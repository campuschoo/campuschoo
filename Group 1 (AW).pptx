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1" d="100"/>
          <a:sy n="81" d="100"/>
        </p:scale>
        <p:origin x="86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471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1B3A5C">
              <a:alpha val="60000"/>
            </a:srgbClr>
          </a:solidFill>
          <a:ln w="19050">
            <a:solidFill>
              <a:srgbClr val="C9A84C"/>
            </a:solidFill>
            <a:prstDash val="solid"/>
          </a:ln>
        </p:spPr>
      </p:sp>
      <p:sp>
        <p:nvSpPr>
          <p:cNvPr id="3" name="Text 1"/>
          <p:cNvSpPr/>
          <p:nvPr/>
        </p:nvSpPr>
        <p:spPr>
          <a:xfrm>
            <a:off x="548640" y="502920"/>
            <a:ext cx="8046720" cy="320040"/>
          </a:xfrm>
          <a:prstGeom prst="rect">
            <a:avLst/>
          </a:prstGeom>
          <a:noFill/>
          <a:ln/>
        </p:spPr>
        <p:txBody>
          <a:bodyPr wrap="square" rtlCol="0" anchor="ctr"/>
          <a:lstStyle/>
          <a:p>
            <a:pPr marL="0" indent="0" algn="l">
              <a:buNone/>
            </a:pPr>
            <a:r>
              <a:rPr lang="en-US" sz="1100" dirty="0">
                <a:solidFill>
                  <a:srgbClr val="8FA4BA"/>
                </a:solidFill>
                <a:latin typeface="Calibri" pitchFamily="34" charset="0"/>
                <a:ea typeface="Calibri" pitchFamily="34" charset="-122"/>
                <a:cs typeface="Calibri" pitchFamily="34" charset="-120"/>
              </a:rPr>
              <a:t>BSc. Statistical Data Science · Academic Writing</a:t>
            </a:r>
            <a:endParaRPr lang="en-US" sz="1100" dirty="0"/>
          </a:p>
        </p:txBody>
      </p:sp>
      <p:sp>
        <p:nvSpPr>
          <p:cNvPr id="4" name="Text 2"/>
          <p:cNvSpPr/>
          <p:nvPr/>
        </p:nvSpPr>
        <p:spPr>
          <a:xfrm>
            <a:off x="548640" y="1005840"/>
            <a:ext cx="8229600" cy="640080"/>
          </a:xfrm>
          <a:prstGeom prst="rect">
            <a:avLst/>
          </a:prstGeom>
          <a:noFill/>
          <a:ln/>
        </p:spPr>
        <p:txBody>
          <a:bodyPr wrap="square" rtlCol="0" anchor="ctr"/>
          <a:lstStyle/>
          <a:p>
            <a:pPr marL="0" indent="0" algn="l">
              <a:buNone/>
            </a:pPr>
            <a:r>
              <a:rPr lang="en-US" sz="3200" dirty="0">
                <a:solidFill>
                  <a:srgbClr val="E8C97A"/>
                </a:solidFill>
                <a:latin typeface="Cambria" pitchFamily="34" charset="0"/>
                <a:ea typeface="Cambria" pitchFamily="34" charset="-122"/>
                <a:cs typeface="Cambria" pitchFamily="34" charset="-120"/>
              </a:rPr>
              <a:t>Scholars in</a:t>
            </a:r>
            <a:endParaRPr lang="en-US" sz="3200" dirty="0"/>
          </a:p>
        </p:txBody>
      </p:sp>
      <p:sp>
        <p:nvSpPr>
          <p:cNvPr id="5" name="Text 3"/>
          <p:cNvSpPr/>
          <p:nvPr/>
        </p:nvSpPr>
        <p:spPr>
          <a:xfrm>
            <a:off x="548640" y="1600200"/>
            <a:ext cx="8412480" cy="822960"/>
          </a:xfrm>
          <a:prstGeom prst="rect">
            <a:avLst/>
          </a:prstGeom>
          <a:noFill/>
          <a:ln/>
        </p:spPr>
        <p:txBody>
          <a:bodyPr wrap="square"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Statistical Data Science</a:t>
            </a:r>
            <a:endParaRPr lang="en-US" sz="4200" dirty="0"/>
          </a:p>
        </p:txBody>
      </p:sp>
      <p:sp>
        <p:nvSpPr>
          <p:cNvPr id="6" name="Text 4"/>
          <p:cNvSpPr/>
          <p:nvPr/>
        </p:nvSpPr>
        <p:spPr>
          <a:xfrm>
            <a:off x="548640" y="2514600"/>
            <a:ext cx="7315200" cy="411480"/>
          </a:xfrm>
          <a:prstGeom prst="rect">
            <a:avLst/>
          </a:prstGeom>
          <a:noFill/>
          <a:ln/>
        </p:spPr>
        <p:txBody>
          <a:bodyPr wrap="square" rtlCol="0" anchor="ctr"/>
          <a:lstStyle/>
          <a:p>
            <a:pPr marL="0" indent="0" algn="l">
              <a:buNone/>
            </a:pPr>
            <a:r>
              <a:rPr lang="en-US" sz="1600" i="1" dirty="0">
                <a:solidFill>
                  <a:srgbClr val="8FA4BA"/>
                </a:solidFill>
                <a:latin typeface="Calibri" pitchFamily="34" charset="0"/>
                <a:ea typeface="Calibri" pitchFamily="34" charset="-122"/>
                <a:cs typeface="Calibri" pitchFamily="34" charset="-120"/>
              </a:rPr>
              <a:t>Their Published Works &amp; Contributions to Society</a:t>
            </a:r>
            <a:endParaRPr lang="en-US" sz="1600" dirty="0"/>
          </a:p>
        </p:txBody>
      </p:sp>
      <p:sp>
        <p:nvSpPr>
          <p:cNvPr id="7" name="Shape 5"/>
          <p:cNvSpPr/>
          <p:nvPr/>
        </p:nvSpPr>
        <p:spPr>
          <a:xfrm>
            <a:off x="548640" y="3063240"/>
            <a:ext cx="3200400" cy="45720"/>
          </a:xfrm>
          <a:prstGeom prst="rect">
            <a:avLst/>
          </a:prstGeom>
          <a:solidFill>
            <a:srgbClr val="C9A84C"/>
          </a:solidFill>
          <a:ln w="12700">
            <a:solidFill>
              <a:srgbClr val="C9A84C"/>
            </a:solidFill>
            <a:prstDash val="solid"/>
          </a:ln>
        </p:spPr>
      </p:sp>
      <p:sp>
        <p:nvSpPr>
          <p:cNvPr id="8" name="Text 6"/>
          <p:cNvSpPr/>
          <p:nvPr/>
        </p:nvSpPr>
        <p:spPr>
          <a:xfrm>
            <a:off x="548640" y="3337560"/>
            <a:ext cx="1371600" cy="914400"/>
          </a:xfrm>
          <a:prstGeom prst="rect">
            <a:avLst/>
          </a:prstGeom>
          <a:noFill/>
          <a:ln/>
        </p:spPr>
        <p:txBody>
          <a:bodyPr wrap="square" rtlCol="0" anchor="ctr"/>
          <a:lstStyle/>
          <a:p>
            <a:pPr marL="0" indent="0" algn="l">
              <a:buNone/>
            </a:pPr>
            <a:r>
              <a:rPr lang="en-US" sz="7200" b="1" dirty="0">
                <a:solidFill>
                  <a:srgbClr val="C9A84C"/>
                </a:solidFill>
                <a:latin typeface="Cambria" pitchFamily="34" charset="0"/>
                <a:ea typeface="Cambria" pitchFamily="34" charset="-122"/>
                <a:cs typeface="Cambria" pitchFamily="34" charset="-120"/>
              </a:rPr>
              <a:t>10</a:t>
            </a:r>
            <a:endParaRPr lang="en-US" sz="7200" dirty="0"/>
          </a:p>
        </p:txBody>
      </p:sp>
      <p:sp>
        <p:nvSpPr>
          <p:cNvPr id="9" name="Text 7"/>
          <p:cNvSpPr/>
          <p:nvPr/>
        </p:nvSpPr>
        <p:spPr>
          <a:xfrm>
            <a:off x="1828800" y="3611880"/>
            <a:ext cx="2743200" cy="731520"/>
          </a:xfrm>
          <a:prstGeom prst="rect">
            <a:avLst/>
          </a:prstGeom>
          <a:noFill/>
          <a:ln/>
        </p:spPr>
        <p:txBody>
          <a:bodyPr wrap="square" rtlCol="0" anchor="ctr"/>
          <a:lstStyle/>
          <a:p>
            <a:pPr marL="0" indent="0" algn="l">
              <a:buNone/>
            </a:pPr>
            <a:r>
              <a:rPr lang="en-US" sz="1400" dirty="0">
                <a:solidFill>
                  <a:srgbClr val="8FA4BA"/>
                </a:solidFill>
                <a:latin typeface="Calibri" pitchFamily="34" charset="0"/>
                <a:ea typeface="Calibri" pitchFamily="34" charset="-122"/>
                <a:cs typeface="Calibri" pitchFamily="34" charset="-120"/>
              </a:rPr>
              <a:t>Distinguished</a:t>
            </a:r>
            <a:endParaRPr lang="en-US" sz="1400" dirty="0"/>
          </a:p>
          <a:p>
            <a:pPr marL="0" indent="0" algn="l">
              <a:buNone/>
            </a:pPr>
            <a:r>
              <a:rPr lang="en-US" sz="1400" dirty="0">
                <a:solidFill>
                  <a:srgbClr val="8FA4BA"/>
                </a:solidFill>
                <a:latin typeface="Calibri" pitchFamily="34" charset="0"/>
                <a:ea typeface="Calibri" pitchFamily="34" charset="-122"/>
                <a:cs typeface="Calibri" pitchFamily="34" charset="-120"/>
              </a:rPr>
              <a:t>Scholars</a:t>
            </a:r>
            <a:endParaRPr lang="en-US" sz="1400" dirty="0"/>
          </a:p>
        </p:txBody>
      </p:sp>
      <p:sp>
        <p:nvSpPr>
          <p:cNvPr id="10" name="Text 8"/>
          <p:cNvSpPr/>
          <p:nvPr/>
        </p:nvSpPr>
        <p:spPr>
          <a:xfrm>
            <a:off x="548640" y="4754880"/>
            <a:ext cx="8229600" cy="274320"/>
          </a:xfrm>
          <a:prstGeom prst="rect">
            <a:avLst/>
          </a:prstGeom>
          <a:noFill/>
          <a:ln/>
        </p:spPr>
        <p:txBody>
          <a:bodyPr wrap="square" rtlCol="0" anchor="ctr"/>
          <a:lstStyle/>
          <a:p>
            <a:pPr marL="0" indent="0" algn="l">
              <a:buNone/>
            </a:pPr>
            <a:r>
              <a:rPr lang="en-US" sz="1000" dirty="0">
                <a:solidFill>
                  <a:srgbClr val="8FA4BA"/>
                </a:solidFill>
                <a:latin typeface="Calibri" pitchFamily="34" charset="0"/>
                <a:ea typeface="Calibri" pitchFamily="34" charset="-122"/>
                <a:cs typeface="Calibri" pitchFamily="34" charset="-120"/>
              </a:rPr>
              <a:t>University of Mines and Technology, Tarkwa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About Our Programme</a:t>
            </a:r>
            <a:endParaRPr lang="en-US" sz="3600" dirty="0"/>
          </a:p>
        </p:txBody>
      </p:sp>
      <p:sp>
        <p:nvSpPr>
          <p:cNvPr id="4" name="Shape 2"/>
          <p:cNvSpPr/>
          <p:nvPr/>
        </p:nvSpPr>
        <p:spPr>
          <a:xfrm>
            <a:off x="320040" y="1234440"/>
            <a:ext cx="2743200" cy="3474720"/>
          </a:xfrm>
          <a:prstGeom prst="roundRect">
            <a:avLst>
              <a:gd name="adj" fmla="val 4000"/>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411480" y="1371600"/>
            <a:ext cx="274320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6" name="Text 4"/>
          <p:cNvSpPr/>
          <p:nvPr/>
        </p:nvSpPr>
        <p:spPr>
          <a:xfrm>
            <a:off x="411480" y="1965960"/>
            <a:ext cx="2560320" cy="411480"/>
          </a:xfrm>
          <a:prstGeom prst="rect">
            <a:avLst/>
          </a:prstGeom>
          <a:noFill/>
          <a:ln/>
        </p:spPr>
        <p:txBody>
          <a:bodyPr wrap="square" rtlCol="0" anchor="ctr"/>
          <a:lstStyle/>
          <a:p>
            <a:pPr marL="0" indent="0" algn="ctr">
              <a:buNone/>
            </a:pPr>
            <a:r>
              <a:rPr lang="en-US" sz="1500" b="1" dirty="0">
                <a:solidFill>
                  <a:srgbClr val="0D1B2A"/>
                </a:solidFill>
                <a:latin typeface="Cambria" pitchFamily="34" charset="0"/>
                <a:ea typeface="Cambria" pitchFamily="34" charset="-122"/>
                <a:cs typeface="Cambria" pitchFamily="34" charset="-120"/>
              </a:rPr>
              <a:t>Statistics</a:t>
            </a:r>
            <a:endParaRPr lang="en-US" sz="1500" dirty="0"/>
          </a:p>
        </p:txBody>
      </p:sp>
      <p:sp>
        <p:nvSpPr>
          <p:cNvPr id="7" name="Shape 5"/>
          <p:cNvSpPr/>
          <p:nvPr/>
        </p:nvSpPr>
        <p:spPr>
          <a:xfrm>
            <a:off x="1234440" y="2395728"/>
            <a:ext cx="914400" cy="36576"/>
          </a:xfrm>
          <a:prstGeom prst="rect">
            <a:avLst/>
          </a:prstGeom>
          <a:solidFill>
            <a:srgbClr val="C9A84C"/>
          </a:solidFill>
          <a:ln w="12700">
            <a:solidFill>
              <a:srgbClr val="C9A84C"/>
            </a:solidFill>
            <a:prstDash val="solid"/>
          </a:ln>
        </p:spPr>
      </p:sp>
      <p:sp>
        <p:nvSpPr>
          <p:cNvPr id="8" name="Text 6"/>
          <p:cNvSpPr/>
          <p:nvPr/>
        </p:nvSpPr>
        <p:spPr>
          <a:xfrm>
            <a:off x="457200" y="2514600"/>
            <a:ext cx="2468880" cy="2011680"/>
          </a:xfrm>
          <a:prstGeom prst="rect">
            <a:avLst/>
          </a:prstGeom>
          <a:noFill/>
          <a:ln/>
        </p:spPr>
        <p:txBody>
          <a:bodyPr wrap="square" rtlCol="0" anchor="ctr"/>
          <a:lstStyle/>
          <a:p>
            <a:pPr marL="0" indent="0" algn="l">
              <a:buNone/>
            </a:pPr>
            <a:r>
              <a:rPr lang="en-US" sz="1150" dirty="0">
                <a:solidFill>
                  <a:srgbClr val="444444"/>
                </a:solidFill>
                <a:latin typeface="Calibri" pitchFamily="34" charset="0"/>
                <a:ea typeface="Calibri" pitchFamily="34" charset="-122"/>
                <a:cs typeface="Calibri" pitchFamily="34" charset="-120"/>
              </a:rPr>
              <a:t>The science of collecting, organising, analysing, interpreting and presenting data (Dodge, 2006). Formally named in the 17th century.</a:t>
            </a:r>
            <a:endParaRPr lang="en-US" sz="1150" dirty="0"/>
          </a:p>
        </p:txBody>
      </p:sp>
      <p:sp>
        <p:nvSpPr>
          <p:cNvPr id="9" name="Shape 7"/>
          <p:cNvSpPr/>
          <p:nvPr/>
        </p:nvSpPr>
        <p:spPr>
          <a:xfrm>
            <a:off x="3246120" y="1234440"/>
            <a:ext cx="2743200" cy="3474720"/>
          </a:xfrm>
          <a:prstGeom prst="roundRect">
            <a:avLst>
              <a:gd name="adj" fmla="val 4000"/>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10" name="Text 8"/>
          <p:cNvSpPr/>
          <p:nvPr/>
        </p:nvSpPr>
        <p:spPr>
          <a:xfrm>
            <a:off x="3337560" y="1371600"/>
            <a:ext cx="274320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3337560" y="1965960"/>
            <a:ext cx="2560320" cy="411480"/>
          </a:xfrm>
          <a:prstGeom prst="rect">
            <a:avLst/>
          </a:prstGeom>
          <a:noFill/>
          <a:ln/>
        </p:spPr>
        <p:txBody>
          <a:bodyPr wrap="square" rtlCol="0" anchor="ctr"/>
          <a:lstStyle/>
          <a:p>
            <a:pPr marL="0" indent="0" algn="ctr">
              <a:buNone/>
            </a:pPr>
            <a:r>
              <a:rPr lang="en-US" sz="1500" b="1" dirty="0">
                <a:solidFill>
                  <a:srgbClr val="0D1B2A"/>
                </a:solidFill>
                <a:latin typeface="Cambria" pitchFamily="34" charset="0"/>
                <a:ea typeface="Cambria" pitchFamily="34" charset="-122"/>
                <a:cs typeface="Cambria" pitchFamily="34" charset="-120"/>
              </a:rPr>
              <a:t>Data Science</a:t>
            </a:r>
            <a:endParaRPr lang="en-US" sz="1500" dirty="0"/>
          </a:p>
        </p:txBody>
      </p:sp>
      <p:sp>
        <p:nvSpPr>
          <p:cNvPr id="12" name="Shape 10"/>
          <p:cNvSpPr/>
          <p:nvPr/>
        </p:nvSpPr>
        <p:spPr>
          <a:xfrm>
            <a:off x="4160520" y="2395728"/>
            <a:ext cx="914400" cy="36576"/>
          </a:xfrm>
          <a:prstGeom prst="rect">
            <a:avLst/>
          </a:prstGeom>
          <a:solidFill>
            <a:srgbClr val="C9A84C"/>
          </a:solidFill>
          <a:ln w="12700">
            <a:solidFill>
              <a:srgbClr val="C9A84C"/>
            </a:solidFill>
            <a:prstDash val="solid"/>
          </a:ln>
        </p:spPr>
      </p:sp>
      <p:sp>
        <p:nvSpPr>
          <p:cNvPr id="13" name="Text 11"/>
          <p:cNvSpPr/>
          <p:nvPr/>
        </p:nvSpPr>
        <p:spPr>
          <a:xfrm>
            <a:off x="3383280" y="2514600"/>
            <a:ext cx="2468880" cy="2011680"/>
          </a:xfrm>
          <a:prstGeom prst="rect">
            <a:avLst/>
          </a:prstGeom>
          <a:noFill/>
          <a:ln/>
        </p:spPr>
        <p:txBody>
          <a:bodyPr wrap="square" rtlCol="0" anchor="ctr"/>
          <a:lstStyle/>
          <a:p>
            <a:pPr marL="0" indent="0" algn="l">
              <a:buNone/>
            </a:pPr>
            <a:r>
              <a:rPr lang="en-US" sz="1150" dirty="0">
                <a:solidFill>
                  <a:srgbClr val="444444"/>
                </a:solidFill>
                <a:latin typeface="Calibri" pitchFamily="34" charset="0"/>
                <a:ea typeface="Calibri" pitchFamily="34" charset="-122"/>
                <a:cs typeface="Calibri" pitchFamily="34" charset="-120"/>
              </a:rPr>
              <a:t>Largely considered to have begun with Cleveland's 2001 action plan. Uses scientific methods &amp; algorithms to extract insights from structured and unstructured data.</a:t>
            </a:r>
            <a:endParaRPr lang="en-US" sz="1150" dirty="0"/>
          </a:p>
        </p:txBody>
      </p:sp>
      <p:sp>
        <p:nvSpPr>
          <p:cNvPr id="14" name="Shape 12"/>
          <p:cNvSpPr/>
          <p:nvPr/>
        </p:nvSpPr>
        <p:spPr>
          <a:xfrm>
            <a:off x="6172200" y="1234440"/>
            <a:ext cx="2743200" cy="3474720"/>
          </a:xfrm>
          <a:prstGeom prst="roundRect">
            <a:avLst>
              <a:gd name="adj" fmla="val 4000"/>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15" name="Text 13"/>
          <p:cNvSpPr/>
          <p:nvPr/>
        </p:nvSpPr>
        <p:spPr>
          <a:xfrm>
            <a:off x="6263640" y="1371600"/>
            <a:ext cx="274320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6" name="Text 14"/>
          <p:cNvSpPr/>
          <p:nvPr/>
        </p:nvSpPr>
        <p:spPr>
          <a:xfrm>
            <a:off x="6263640" y="1965960"/>
            <a:ext cx="2560320" cy="411480"/>
          </a:xfrm>
          <a:prstGeom prst="rect">
            <a:avLst/>
          </a:prstGeom>
          <a:noFill/>
          <a:ln/>
        </p:spPr>
        <p:txBody>
          <a:bodyPr wrap="square" rtlCol="0" anchor="ctr"/>
          <a:lstStyle/>
          <a:p>
            <a:pPr marL="0" indent="0" algn="ctr">
              <a:buNone/>
            </a:pPr>
            <a:r>
              <a:rPr lang="en-US" sz="1500" b="1" dirty="0">
                <a:solidFill>
                  <a:srgbClr val="0D1B2A"/>
                </a:solidFill>
                <a:latin typeface="Cambria" pitchFamily="34" charset="0"/>
                <a:ea typeface="Cambria" pitchFamily="34" charset="-122"/>
                <a:cs typeface="Cambria" pitchFamily="34" charset="-120"/>
              </a:rPr>
              <a:t>Statistical Data Science</a:t>
            </a:r>
            <a:endParaRPr lang="en-US" sz="1500" dirty="0"/>
          </a:p>
        </p:txBody>
      </p:sp>
      <p:sp>
        <p:nvSpPr>
          <p:cNvPr id="17" name="Shape 15"/>
          <p:cNvSpPr/>
          <p:nvPr/>
        </p:nvSpPr>
        <p:spPr>
          <a:xfrm>
            <a:off x="7086600" y="2395728"/>
            <a:ext cx="914400" cy="36576"/>
          </a:xfrm>
          <a:prstGeom prst="rect">
            <a:avLst/>
          </a:prstGeom>
          <a:solidFill>
            <a:srgbClr val="C9A84C"/>
          </a:solidFill>
          <a:ln w="12700">
            <a:solidFill>
              <a:srgbClr val="C9A84C"/>
            </a:solidFill>
            <a:prstDash val="solid"/>
          </a:ln>
        </p:spPr>
      </p:sp>
      <p:sp>
        <p:nvSpPr>
          <p:cNvPr id="18" name="Text 16"/>
          <p:cNvSpPr/>
          <p:nvPr/>
        </p:nvSpPr>
        <p:spPr>
          <a:xfrm>
            <a:off x="6309360" y="2514600"/>
            <a:ext cx="2468880" cy="2011680"/>
          </a:xfrm>
          <a:prstGeom prst="rect">
            <a:avLst/>
          </a:prstGeom>
          <a:noFill/>
          <a:ln/>
        </p:spPr>
        <p:txBody>
          <a:bodyPr wrap="square" rtlCol="0" anchor="ctr"/>
          <a:lstStyle/>
          <a:p>
            <a:pPr marL="0" indent="0" algn="l">
              <a:buNone/>
            </a:pPr>
            <a:r>
              <a:rPr lang="en-US" sz="1150" dirty="0">
                <a:solidFill>
                  <a:srgbClr val="444444"/>
                </a:solidFill>
                <a:latin typeface="Calibri" pitchFamily="34" charset="0"/>
                <a:ea typeface="Calibri" pitchFamily="34" charset="-122"/>
                <a:cs typeface="Calibri" pitchFamily="34" charset="-120"/>
              </a:rPr>
              <a:t>Practice of using rigorous statistical methods to extract meaning from data, powered by modern computing tools.</a:t>
            </a:r>
            <a:endParaRPr lang="en-US" sz="1150" dirty="0"/>
          </a:p>
        </p:txBody>
      </p:sp>
      <p:sp>
        <p:nvSpPr>
          <p:cNvPr id="19" name="Text 17"/>
          <p:cNvSpPr/>
          <p:nvPr/>
        </p:nvSpPr>
        <p:spPr>
          <a:xfrm>
            <a:off x="457200" y="4709160"/>
            <a:ext cx="8229600" cy="320040"/>
          </a:xfrm>
          <a:prstGeom prst="rect">
            <a:avLst/>
          </a:prstGeom>
          <a:noFill/>
          <a:ln/>
        </p:spPr>
        <p:txBody>
          <a:bodyPr wrap="square" rtlCol="0" anchor="ctr"/>
          <a:lstStyle/>
          <a:p>
            <a:pPr marL="0" indent="0" algn="ctr">
              <a:buNone/>
            </a:pPr>
            <a:r>
              <a:rPr lang="en-US" sz="1100" i="1" dirty="0">
                <a:solidFill>
                  <a:srgbClr val="1B3A5C"/>
                </a:solidFill>
                <a:latin typeface="Calibri" pitchFamily="34" charset="0"/>
                <a:ea typeface="Calibri" pitchFamily="34" charset="-122"/>
                <a:cs typeface="Calibri" pitchFamily="34" charset="-120"/>
              </a:rPr>
              <a:t>UMaT is among only 2 institutions in Ghana — and fewer than 15 globally — offering this programme.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American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CART</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Gradient Boosting</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MARS</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Regularisation</a:t>
            </a:r>
            <a:endParaRPr lang="en-US" sz="950" dirty="0"/>
          </a:p>
        </p:txBody>
      </p:sp>
      <p:sp>
        <p:nvSpPr>
          <p:cNvPr id="15" name="Text 13"/>
          <p:cNvSpPr/>
          <p:nvPr/>
        </p:nvSpPr>
        <p:spPr>
          <a:xfrm>
            <a:off x="3520440" y="274320"/>
            <a:ext cx="5536850" cy="68580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Prof. Jerome H. Friedman</a:t>
            </a:r>
            <a:endParaRPr lang="en-US" sz="3600" dirty="0"/>
          </a:p>
        </p:txBody>
      </p:sp>
      <p:sp>
        <p:nvSpPr>
          <p:cNvPr id="16" name="Text 14"/>
          <p:cNvSpPr/>
          <p:nvPr/>
        </p:nvSpPr>
        <p:spPr>
          <a:xfrm>
            <a:off x="3520440" y="914400"/>
            <a:ext cx="5349240" cy="347472"/>
          </a:xfrm>
          <a:prstGeom prst="rect">
            <a:avLst/>
          </a:prstGeom>
          <a:noFill/>
          <a:ln/>
        </p:spPr>
        <p:txBody>
          <a:bodyPr wrap="square" rtlCol="0" anchor="ctr"/>
          <a:lstStyle/>
          <a:p>
            <a:pPr marL="0" indent="0" algn="l">
              <a:buNone/>
            </a:pPr>
            <a:r>
              <a:rPr lang="en-US" sz="1600" i="1" dirty="0">
                <a:solidFill>
                  <a:srgbClr val="C9A84C"/>
                </a:solidFill>
                <a:latin typeface="Calibri" pitchFamily="34" charset="0"/>
                <a:ea typeface="Calibri" pitchFamily="34" charset="-122"/>
                <a:cs typeface="Calibri" pitchFamily="34" charset="-120"/>
              </a:rPr>
              <a:t>Statistician | Machine Learning Pioneer | Stanford University</a:t>
            </a:r>
            <a:endParaRPr lang="en-US" sz="16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474720"/>
          </a:xfrm>
          <a:prstGeom prst="rect">
            <a:avLst/>
          </a:prstGeom>
          <a:noFill/>
          <a:ln/>
        </p:spPr>
        <p:txBody>
          <a:bodyPr wrap="square" rtlCol="0" anchor="ctr"/>
          <a:lstStyle/>
          <a:p>
            <a:pPr marL="0" indent="0" algn="l">
              <a:buNone/>
            </a:pPr>
            <a:r>
              <a:rPr lang="en-US" sz="2200" dirty="0">
                <a:solidFill>
                  <a:srgbClr val="D0DCE8"/>
                </a:solidFill>
                <a:latin typeface="Calibri" pitchFamily="34" charset="0"/>
                <a:ea typeface="Calibri" pitchFamily="34" charset="-122"/>
                <a:cs typeface="Calibri" pitchFamily="34" charset="-120"/>
              </a:rPr>
              <a:t>Born 1939, California. PhD in High Energy Particle Physics, UC Berkeley (1967). Joined Stanford in 1972 and appointed Professor of Statistics in 1982. Fellow of the ASA (1984), member of the National Academy of Sciences (2010), and recipient of the ACM SIGKDD Innovation Award (2002). Over 263,000 Google Scholar citations — one of the founding figures of modern statistical machine learning.</a:t>
            </a:r>
            <a:endParaRPr lang="en-US" sz="2200" dirty="0"/>
          </a:p>
        </p:txBody>
      </p:sp>
      <p:pic>
        <p:nvPicPr>
          <p:cNvPr id="20" name="Picture 19">
            <a:extLst>
              <a:ext uri="{FF2B5EF4-FFF2-40B4-BE49-F238E27FC236}">
                <a16:creationId xmlns:a16="http://schemas.microsoft.com/office/drawing/2014/main" id="{1A56B96B-1022-DC0E-8A49-A79818C12A89}"/>
              </a:ext>
            </a:extLst>
          </p:cNvPr>
          <p:cNvPicPr>
            <a:picLocks noChangeAspect="1"/>
          </p:cNvPicPr>
          <p:nvPr/>
        </p:nvPicPr>
        <p:blipFill>
          <a:blip r:embed="rId3"/>
          <a:stretch>
            <a:fillRect/>
          </a:stretch>
        </p:blipFill>
        <p:spPr>
          <a:xfrm>
            <a:off x="274320" y="320040"/>
            <a:ext cx="2743200" cy="26334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Prof. Jerome H. Friedman — Contributions &amp; Publications</a:t>
            </a:r>
            <a:endParaRPr lang="en-US" sz="2400" dirty="0"/>
          </a:p>
        </p:txBody>
      </p:sp>
      <p:sp>
        <p:nvSpPr>
          <p:cNvPr id="4" name="Shape 2"/>
          <p:cNvSpPr/>
          <p:nvPr/>
        </p:nvSpPr>
        <p:spPr>
          <a:xfrm>
            <a:off x="0" y="816214"/>
            <a:ext cx="4536399" cy="4183006"/>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13457"/>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flipV="1">
            <a:off x="58332" y="994525"/>
            <a:ext cx="2125191" cy="45719"/>
          </a:xfrm>
          <a:prstGeom prst="rect">
            <a:avLst/>
          </a:prstGeom>
          <a:solidFill>
            <a:srgbClr val="C9A84C"/>
          </a:solidFill>
          <a:ln w="12700">
            <a:solidFill>
              <a:srgbClr val="C9A84C"/>
            </a:solidFill>
            <a:prstDash val="solid"/>
          </a:ln>
        </p:spPr>
      </p:sp>
      <p:sp>
        <p:nvSpPr>
          <p:cNvPr id="7" name="Text 5"/>
          <p:cNvSpPr/>
          <p:nvPr/>
        </p:nvSpPr>
        <p:spPr>
          <a:xfrm>
            <a:off x="0" y="1079218"/>
            <a:ext cx="4343400" cy="3920002"/>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Classification &amp; Regression Trees (CART)</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Co-developed with Breiman (1984) — foundation of virtually all modern decision tree methods.
</a:t>
            </a:r>
            <a:r>
              <a:rPr lang="en-US" sz="1600" b="1" dirty="0">
                <a:solidFill>
                  <a:srgbClr val="0D1B2A"/>
                </a:solidFill>
                <a:latin typeface="Calibri" pitchFamily="34" charset="0"/>
                <a:ea typeface="Calibri" pitchFamily="34" charset="-122"/>
                <a:cs typeface="Calibri" pitchFamily="34" charset="-120"/>
              </a:rPr>
              <a:t>Gradient Boosting Machines (GBM)</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Landmark sequential learning technique (1999/2001) underpinning XGBoost &amp; LightGBM — used in fraud detection, medical diagnosis, and financial risk.
</a:t>
            </a:r>
            <a:r>
              <a:rPr lang="en-US" sz="1600" b="1" dirty="0">
                <a:solidFill>
                  <a:srgbClr val="0D1B2A"/>
                </a:solidFill>
                <a:latin typeface="Calibri" pitchFamily="34" charset="0"/>
                <a:ea typeface="Calibri" pitchFamily="34" charset="-122"/>
                <a:cs typeface="Calibri" pitchFamily="34" charset="-120"/>
              </a:rPr>
              <a:t>Multivariate Adaptive Regression Splines (MARS)</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Flexible nonparametric regression for high-dimensional data (1991). Democratised advanced predictive modelling worldwide.</a:t>
            </a:r>
            <a:endParaRPr lang="en-US" sz="1600" dirty="0"/>
          </a:p>
        </p:txBody>
      </p:sp>
      <p:sp>
        <p:nvSpPr>
          <p:cNvPr id="8" name="Shape 6"/>
          <p:cNvSpPr/>
          <p:nvPr/>
        </p:nvSpPr>
        <p:spPr>
          <a:xfrm>
            <a:off x="4617720" y="816214"/>
            <a:ext cx="4526280" cy="4183006"/>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663440" y="713457"/>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663440" y="994524"/>
            <a:ext cx="2501988" cy="45719"/>
          </a:xfrm>
          <a:prstGeom prst="rect">
            <a:avLst/>
          </a:prstGeom>
          <a:solidFill>
            <a:srgbClr val="C9A84C"/>
          </a:solidFill>
          <a:ln w="12700">
            <a:solidFill>
              <a:srgbClr val="C9A84C"/>
            </a:solidFill>
            <a:prstDash val="solid"/>
          </a:ln>
        </p:spPr>
      </p:sp>
      <p:sp>
        <p:nvSpPr>
          <p:cNvPr id="11" name="Text 9"/>
          <p:cNvSpPr/>
          <p:nvPr/>
        </p:nvSpPr>
        <p:spPr>
          <a:xfrm>
            <a:off x="4617720" y="1079217"/>
            <a:ext cx="4480558" cy="3920003"/>
          </a:xfrm>
          <a:prstGeom prst="rect">
            <a:avLst/>
          </a:prstGeom>
          <a:noFill/>
          <a:ln/>
        </p:spPr>
        <p:txBody>
          <a:bodyPr wrap="square" rtlCol="0" anchor="ctr"/>
          <a:lstStyle/>
          <a:p>
            <a:pPr marL="0" indent="0" algn="l">
              <a:buNone/>
            </a:pPr>
            <a:r>
              <a:rPr lang="en-US" sz="1400" dirty="0">
                <a:solidFill>
                  <a:srgbClr val="333333"/>
                </a:solidFill>
                <a:latin typeface="Calibri" pitchFamily="34" charset="0"/>
                <a:ea typeface="Calibri" pitchFamily="34" charset="-122"/>
                <a:cs typeface="Calibri" pitchFamily="34" charset="-120"/>
              </a:rPr>
              <a:t>1. Breiman, Friedman et al. (1984) Classification and Regression Trees. Wadsworth.
2. Friedman &amp; Stuetzle (1981) 'Projection Pursuit Regression', JASA 76(376).
3. Friedman (1991) 'MARS', Annals of Statistics 19(1), pp. 1–67.
4. Friedman (2001) 'Greedy Function Approximation: A GBM', Annals of Statistics 29(5).
5. Hastie, Tibshirani &amp; Friedman (2009) The Elements of Statistical Learning. Springer.
6. Friedman, Hastie &amp; Tibshirani (2010) 'Regularization Paths for GLMs via Coordinate Descent', J. Stat. Software 33(1).</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South African-American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GAMs</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Lasso</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Stat. Learning</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Biostatistics</a:t>
            </a:r>
            <a:endParaRPr lang="en-US" sz="950" dirty="0"/>
          </a:p>
        </p:txBody>
      </p:sp>
      <p:sp>
        <p:nvSpPr>
          <p:cNvPr id="15" name="Text 13"/>
          <p:cNvSpPr/>
          <p:nvPr/>
        </p:nvSpPr>
        <p:spPr>
          <a:xfrm>
            <a:off x="3520440" y="187453"/>
            <a:ext cx="5349240" cy="68580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Prof. Trevor Hastie</a:t>
            </a:r>
            <a:endParaRPr lang="en-US" sz="3200" dirty="0"/>
          </a:p>
        </p:txBody>
      </p:sp>
      <p:sp>
        <p:nvSpPr>
          <p:cNvPr id="16" name="Text 14"/>
          <p:cNvSpPr/>
          <p:nvPr/>
        </p:nvSpPr>
        <p:spPr>
          <a:xfrm>
            <a:off x="3520440" y="848500"/>
            <a:ext cx="5473788" cy="413372"/>
          </a:xfrm>
          <a:prstGeom prst="rect">
            <a:avLst/>
          </a:prstGeom>
          <a:noFill/>
          <a:ln/>
        </p:spPr>
        <p:txBody>
          <a:bodyPr wrap="square" rtlCol="0" anchor="ctr"/>
          <a:lstStyle/>
          <a:p>
            <a:pPr marL="0" indent="0" algn="l">
              <a:buNone/>
            </a:pPr>
            <a:r>
              <a:rPr lang="en-US" sz="1600" i="1" dirty="0">
                <a:solidFill>
                  <a:srgbClr val="C9A84C"/>
                </a:solidFill>
                <a:latin typeface="Calibri" pitchFamily="34" charset="0"/>
                <a:ea typeface="Calibri" pitchFamily="34" charset="-122"/>
                <a:cs typeface="Calibri" pitchFamily="34" charset="-120"/>
              </a:rPr>
              <a:t>Statistician | Founding Father of Statistical Learning | Stanford</a:t>
            </a:r>
            <a:endParaRPr lang="en-US" sz="16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19"/>
            <a:ext cx="5349240" cy="3667059"/>
          </a:xfrm>
          <a:prstGeom prst="rect">
            <a:avLst/>
          </a:prstGeom>
          <a:noFill/>
          <a:ln/>
        </p:spPr>
        <p:txBody>
          <a:bodyPr wrap="square" rtlCol="0" anchor="ctr"/>
          <a:lstStyle/>
          <a:p>
            <a:pPr marL="0" indent="0" algn="l">
              <a:buNone/>
            </a:pPr>
            <a:r>
              <a:rPr lang="en-US" sz="2300" dirty="0">
                <a:solidFill>
                  <a:srgbClr val="D0DCE8"/>
                </a:solidFill>
                <a:latin typeface="Calibri" pitchFamily="34" charset="0"/>
                <a:ea typeface="Calibri" pitchFamily="34" charset="-122"/>
                <a:cs typeface="Calibri" pitchFamily="34" charset="-120"/>
              </a:rPr>
              <a:t>Born 1953, South Africa. PhD in Statistics, Stanford (1984). Professor at Stanford ever since. Co-developed Generalised Additive Models (GAMs) with Tibshirani, popularised Lasso regression (1996), and co-authored two landmark textbooks freely available online. Widely described as a founding father of statistical learning for bridging classical statistics with modern machine learning.</a:t>
            </a:r>
            <a:endParaRPr lang="en-US" sz="2300" dirty="0"/>
          </a:p>
        </p:txBody>
      </p:sp>
      <p:pic>
        <p:nvPicPr>
          <p:cNvPr id="20" name="Picture 19">
            <a:extLst>
              <a:ext uri="{FF2B5EF4-FFF2-40B4-BE49-F238E27FC236}">
                <a16:creationId xmlns:a16="http://schemas.microsoft.com/office/drawing/2014/main" id="{EC1A7F02-C5F6-6F6A-8E33-B7FC6568D576}"/>
              </a:ext>
            </a:extLst>
          </p:cNvPr>
          <p:cNvPicPr>
            <a:picLocks noChangeAspect="1"/>
          </p:cNvPicPr>
          <p:nvPr/>
        </p:nvPicPr>
        <p:blipFill>
          <a:blip r:embed="rId3"/>
          <a:stretch>
            <a:fillRect/>
          </a:stretch>
        </p:blipFill>
        <p:spPr>
          <a:xfrm>
            <a:off x="212835" y="320040"/>
            <a:ext cx="2804686" cy="26639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Prof. Trevor Hastie — Contributions &amp; Publications</a:t>
            </a:r>
            <a:endParaRPr lang="en-US" sz="24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54380"/>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0" y="1056132"/>
            <a:ext cx="1828800" cy="36576"/>
          </a:xfrm>
          <a:prstGeom prst="rect">
            <a:avLst/>
          </a:prstGeom>
          <a:solidFill>
            <a:srgbClr val="C9A84C"/>
          </a:solidFill>
          <a:ln w="12700">
            <a:solidFill>
              <a:srgbClr val="C9A84C"/>
            </a:solidFill>
            <a:prstDash val="solid"/>
          </a:ln>
        </p:spPr>
      </p:sp>
      <p:sp>
        <p:nvSpPr>
          <p:cNvPr id="7" name="Text 5"/>
          <p:cNvSpPr/>
          <p:nvPr/>
        </p:nvSpPr>
        <p:spPr>
          <a:xfrm>
            <a:off x="0" y="1120140"/>
            <a:ext cx="4434840" cy="3931920"/>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Generalised Additive Models (GAMs)</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Allowed data to 'draw curves' instead of straight lines — enabling doctors to model disease risk with age and banks to predict loan defaults while maintaining interpretability.
</a:t>
            </a:r>
            <a:r>
              <a:rPr lang="en-US" sz="1600" b="1" dirty="0">
                <a:solidFill>
                  <a:srgbClr val="0D1B2A"/>
                </a:solidFill>
                <a:latin typeface="Calibri" pitchFamily="34" charset="0"/>
                <a:ea typeface="Calibri" pitchFamily="34" charset="-122"/>
                <a:cs typeface="Calibri" pitchFamily="34" charset="-120"/>
              </a:rPr>
              <a:t>Lasso Regression</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Co-popularised in 1996; automatically weeds out useless variables. Built into scikit-learn and glmnet — used by data scientists daily.
</a:t>
            </a:r>
            <a:r>
              <a:rPr lang="en-US" sz="1600" b="1" dirty="0">
                <a:solidFill>
                  <a:srgbClr val="0D1B2A"/>
                </a:solidFill>
                <a:latin typeface="Calibri" pitchFamily="34" charset="0"/>
                <a:ea typeface="Calibri" pitchFamily="34" charset="-122"/>
                <a:cs typeface="Calibri" pitchFamily="34" charset="-120"/>
              </a:rPr>
              <a:t>Statistical Learning Theory</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Gave the field rigorous foundations via bias-variance tradeoff and overfitting theory — trusted in healthcare and finance where mistakes cost lives.</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26948"/>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60" y="1056132"/>
            <a:ext cx="1828800" cy="36576"/>
          </a:xfrm>
          <a:prstGeom prst="rect">
            <a:avLst/>
          </a:prstGeom>
          <a:solidFill>
            <a:srgbClr val="C9A84C"/>
          </a:solidFill>
          <a:ln w="12700">
            <a:solidFill>
              <a:srgbClr val="C9A84C"/>
            </a:solidFill>
            <a:prstDash val="solid"/>
          </a:ln>
        </p:spPr>
      </p:sp>
      <p:sp>
        <p:nvSpPr>
          <p:cNvPr id="11" name="Text 9"/>
          <p:cNvSpPr/>
          <p:nvPr/>
        </p:nvSpPr>
        <p:spPr>
          <a:xfrm>
            <a:off x="4709159" y="1092708"/>
            <a:ext cx="4434839" cy="3959352"/>
          </a:xfrm>
          <a:prstGeom prst="rect">
            <a:avLst/>
          </a:prstGeom>
          <a:noFill/>
          <a:ln/>
        </p:spPr>
        <p:txBody>
          <a:bodyPr wrap="square" rtlCol="0" anchor="ctr"/>
          <a:lstStyle/>
          <a:p>
            <a:pPr marL="0" indent="0" algn="l">
              <a:buNone/>
            </a:pPr>
            <a:r>
              <a:rPr lang="en-US" b="1" dirty="0">
                <a:solidFill>
                  <a:srgbClr val="333333"/>
                </a:solidFill>
                <a:latin typeface="Calibri" pitchFamily="34" charset="0"/>
                <a:ea typeface="Calibri" pitchFamily="34" charset="-122"/>
                <a:cs typeface="Calibri" pitchFamily="34" charset="-120"/>
              </a:rPr>
              <a:t>1. </a:t>
            </a:r>
            <a:r>
              <a:rPr lang="en-US" dirty="0">
                <a:solidFill>
                  <a:srgbClr val="333333"/>
                </a:solidFill>
                <a:latin typeface="Calibri" pitchFamily="34" charset="0"/>
                <a:ea typeface="Calibri" pitchFamily="34" charset="-122"/>
                <a:cs typeface="Calibri" pitchFamily="34" charset="-120"/>
              </a:rPr>
              <a:t>Hastie &amp; Tibshirani — Generalized Additive Models. Chapman and Hall.
</a:t>
            </a:r>
            <a:r>
              <a:rPr lang="en-US" b="1" dirty="0">
                <a:solidFill>
                  <a:srgbClr val="333333"/>
                </a:solidFill>
                <a:latin typeface="Calibri" pitchFamily="34" charset="0"/>
                <a:ea typeface="Calibri" pitchFamily="34" charset="-122"/>
                <a:cs typeface="Calibri" pitchFamily="34" charset="-120"/>
              </a:rPr>
              <a:t>2. </a:t>
            </a:r>
            <a:r>
              <a:rPr lang="en-US" dirty="0">
                <a:solidFill>
                  <a:srgbClr val="333333"/>
                </a:solidFill>
                <a:latin typeface="Calibri" pitchFamily="34" charset="0"/>
                <a:ea typeface="Calibri" pitchFamily="34" charset="-122"/>
                <a:cs typeface="Calibri" pitchFamily="34" charset="-120"/>
              </a:rPr>
              <a:t>Hastie, Tibshirani &amp; Friedman (2009) The Elements of Statistical Learning. Springer. [Free online]
</a:t>
            </a:r>
            <a:r>
              <a:rPr lang="en-US" b="1" dirty="0">
                <a:solidFill>
                  <a:srgbClr val="333333"/>
                </a:solidFill>
                <a:latin typeface="Calibri" pitchFamily="34" charset="0"/>
                <a:ea typeface="Calibri" pitchFamily="34" charset="-122"/>
                <a:cs typeface="Calibri" pitchFamily="34" charset="-120"/>
              </a:rPr>
              <a:t>3. </a:t>
            </a:r>
            <a:r>
              <a:rPr lang="en-US" dirty="0">
                <a:solidFill>
                  <a:srgbClr val="333333"/>
                </a:solidFill>
                <a:latin typeface="Calibri" pitchFamily="34" charset="0"/>
                <a:ea typeface="Calibri" pitchFamily="34" charset="-122"/>
                <a:cs typeface="Calibri" pitchFamily="34" charset="-120"/>
              </a:rPr>
              <a:t>James, Witten, Hastie &amp; Tibshirani — An Introduction to Statistical Learning. Springer. [Free online]
📚</a:t>
            </a:r>
            <a:r>
              <a:rPr lang="en-US" i="1" dirty="0">
                <a:solidFill>
                  <a:srgbClr val="555555"/>
                </a:solidFill>
                <a:latin typeface="Calibri" pitchFamily="34" charset="0"/>
                <a:ea typeface="Calibri" pitchFamily="34" charset="-122"/>
                <a:cs typeface="Calibri" pitchFamily="34" charset="-120"/>
              </a:rPr>
              <a:t> Both ESL and ISLR are freely available online — Stanford gives away the 'bible of data science' to anyone with internet access.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Canadian-American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Lasso (L1)</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Biostatistics</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Genomics</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Data Mining</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Prof. Robert Tibshirani</a:t>
            </a:r>
            <a:endParaRPr lang="en-US" sz="3600" dirty="0"/>
          </a:p>
        </p:txBody>
      </p:sp>
      <p:sp>
        <p:nvSpPr>
          <p:cNvPr id="16" name="Text 14"/>
          <p:cNvSpPr/>
          <p:nvPr/>
        </p:nvSpPr>
        <p:spPr>
          <a:xfrm>
            <a:off x="3520440" y="914400"/>
            <a:ext cx="5349240" cy="347472"/>
          </a:xfrm>
          <a:prstGeom prst="rect">
            <a:avLst/>
          </a:prstGeom>
          <a:noFill/>
          <a:ln/>
        </p:spPr>
        <p:txBody>
          <a:bodyPr wrap="square" rtlCol="0" anchor="ctr"/>
          <a:lstStyle/>
          <a:p>
            <a:pPr marL="0" indent="0" algn="l">
              <a:buNone/>
            </a:pPr>
            <a:r>
              <a:rPr lang="en-US" i="1" dirty="0">
                <a:solidFill>
                  <a:srgbClr val="C9A84C"/>
                </a:solidFill>
                <a:latin typeface="Calibri" pitchFamily="34" charset="0"/>
                <a:ea typeface="Calibri" pitchFamily="34" charset="-122"/>
                <a:cs typeface="Calibri" pitchFamily="34" charset="-120"/>
              </a:rPr>
              <a:t>Statistician | Pioneer of the Lasso | Stanford University</a:t>
            </a:r>
            <a:endParaRPr lang="en-US"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474720"/>
          </a:xfrm>
          <a:prstGeom prst="rect">
            <a:avLst/>
          </a:prstGeom>
          <a:noFill/>
          <a:ln/>
        </p:spPr>
        <p:txBody>
          <a:bodyPr wrap="square" rtlCol="0" anchor="ctr"/>
          <a:lstStyle/>
          <a:p>
            <a:pPr marL="0" indent="0" algn="l">
              <a:buNone/>
            </a:pPr>
            <a:r>
              <a:rPr lang="en-US" sz="2400" dirty="0">
                <a:solidFill>
                  <a:srgbClr val="D0DCE8"/>
                </a:solidFill>
                <a:latin typeface="Calibri" pitchFamily="34" charset="0"/>
                <a:ea typeface="Calibri" pitchFamily="34" charset="-122"/>
                <a:cs typeface="Calibri" pitchFamily="34" charset="-120"/>
              </a:rPr>
              <a:t>Born July 10, 1956, Canada. BSc from Waterloo (1979), MSc Toronto (1980), PhD Stanford (1984) under Bradley Efron. Professor at University of Toronto (1985–1998), then Stanford. Fellow of the ASA and IMS, elected to the Royal Society in 2019. Over 615,000 Google Scholar citations — enormous influence on statistics and data science.</a:t>
            </a:r>
            <a:endParaRPr lang="en-US" sz="2400" dirty="0"/>
          </a:p>
        </p:txBody>
      </p:sp>
      <p:pic>
        <p:nvPicPr>
          <p:cNvPr id="20" name="Picture 19">
            <a:extLst>
              <a:ext uri="{FF2B5EF4-FFF2-40B4-BE49-F238E27FC236}">
                <a16:creationId xmlns:a16="http://schemas.microsoft.com/office/drawing/2014/main" id="{C93BC916-1C91-21A4-C90C-D8C70DF5C6E4}"/>
              </a:ext>
            </a:extLst>
          </p:cNvPr>
          <p:cNvPicPr>
            <a:picLocks noChangeAspect="1"/>
          </p:cNvPicPr>
          <p:nvPr/>
        </p:nvPicPr>
        <p:blipFill>
          <a:blip r:embed="rId3"/>
          <a:stretch>
            <a:fillRect/>
          </a:stretch>
        </p:blipFill>
        <p:spPr>
          <a:xfrm>
            <a:off x="274321" y="320041"/>
            <a:ext cx="2743200" cy="2651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Prof. Robert Tibshirani — Contributions &amp; Publications</a:t>
            </a:r>
            <a:endParaRPr lang="en-US" sz="24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54380"/>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0" y="1083564"/>
            <a:ext cx="1828800" cy="36576"/>
          </a:xfrm>
          <a:prstGeom prst="rect">
            <a:avLst/>
          </a:prstGeom>
          <a:solidFill>
            <a:srgbClr val="C9A84C"/>
          </a:solidFill>
          <a:ln w="12700">
            <a:solidFill>
              <a:srgbClr val="C9A84C"/>
            </a:solidFill>
            <a:prstDash val="solid"/>
          </a:ln>
        </p:spPr>
      </p:sp>
      <p:sp>
        <p:nvSpPr>
          <p:cNvPr id="7" name="Text 5"/>
          <p:cNvSpPr/>
          <p:nvPr/>
        </p:nvSpPr>
        <p:spPr>
          <a:xfrm>
            <a:off x="1" y="1143000"/>
            <a:ext cx="4434840" cy="3939408"/>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The Lasso</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Proposed L1 penalisation in regression (1996) — automatic variable selection that revolutionised analysis of high-dimensional data (e.g. thousands of genes, few patients).
</a:t>
            </a:r>
            <a:r>
              <a:rPr lang="en-US" sz="1600" b="1" dirty="0">
                <a:solidFill>
                  <a:srgbClr val="0D1B2A"/>
                </a:solidFill>
                <a:latin typeface="Calibri" pitchFamily="34" charset="0"/>
                <a:ea typeface="Calibri" pitchFamily="34" charset="-122"/>
                <a:cs typeface="Calibri" pitchFamily="34" charset="-120"/>
              </a:rPr>
              <a:t>Significance Analysis of Microarrays (SAM)</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Statistical technique to interpret data from DNA experiments, now standard in genomics research.
</a:t>
            </a:r>
            <a:r>
              <a:rPr lang="en-US" sz="1600" b="1" dirty="0">
                <a:solidFill>
                  <a:srgbClr val="0D1B2A"/>
                </a:solidFill>
                <a:latin typeface="Calibri" pitchFamily="34" charset="0"/>
                <a:ea typeface="Calibri" pitchFamily="34" charset="-122"/>
                <a:cs typeface="Calibri" pitchFamily="34" charset="-120"/>
              </a:rPr>
              <a:t>Biomedical Data Science</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Develops software packages for genomics and proteomics; current research on post-selection inference and large-scale data analysis. COPSS Presidents' Award (1996).</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46891"/>
            <a:ext cx="402336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60" y="1083564"/>
            <a:ext cx="1828800" cy="36576"/>
          </a:xfrm>
          <a:prstGeom prst="rect">
            <a:avLst/>
          </a:prstGeom>
          <a:solidFill>
            <a:srgbClr val="C9A84C"/>
          </a:solidFill>
          <a:ln w="12700">
            <a:solidFill>
              <a:srgbClr val="C9A84C"/>
            </a:solidFill>
            <a:prstDash val="solid"/>
          </a:ln>
        </p:spPr>
      </p:sp>
      <p:sp>
        <p:nvSpPr>
          <p:cNvPr id="11" name="Text 9"/>
          <p:cNvSpPr/>
          <p:nvPr/>
        </p:nvSpPr>
        <p:spPr>
          <a:xfrm>
            <a:off x="4709160" y="1142999"/>
            <a:ext cx="4434840" cy="3939409"/>
          </a:xfrm>
          <a:prstGeom prst="rect">
            <a:avLst/>
          </a:prstGeom>
          <a:noFill/>
          <a:ln/>
        </p:spPr>
        <p:txBody>
          <a:bodyPr wrap="square" rtlCol="0" anchor="ctr"/>
          <a:lstStyle/>
          <a:p>
            <a:pPr marL="0" indent="0" algn="l">
              <a:buNone/>
            </a:pPr>
            <a:r>
              <a:rPr lang="en-US" sz="1600" b="1" dirty="0">
                <a:solidFill>
                  <a:srgbClr val="333333"/>
                </a:solidFill>
                <a:latin typeface="Calibri" pitchFamily="34" charset="0"/>
                <a:ea typeface="Calibri" pitchFamily="34" charset="-122"/>
                <a:cs typeface="Calibri" pitchFamily="34" charset="-120"/>
              </a:rPr>
              <a:t>1. </a:t>
            </a:r>
            <a:r>
              <a:rPr lang="en-US" sz="1600" dirty="0">
                <a:solidFill>
                  <a:srgbClr val="333333"/>
                </a:solidFill>
                <a:latin typeface="Calibri" pitchFamily="34" charset="0"/>
                <a:ea typeface="Calibri" pitchFamily="34" charset="-122"/>
                <a:cs typeface="Calibri" pitchFamily="34" charset="-120"/>
              </a:rPr>
              <a:t>Hastie &amp; Tibshirani — Generalized Additive Models. Chapman and Hall.
</a:t>
            </a:r>
            <a:r>
              <a:rPr lang="en-US" sz="1600" b="1" dirty="0">
                <a:solidFill>
                  <a:srgbClr val="333333"/>
                </a:solidFill>
                <a:latin typeface="Calibri" pitchFamily="34" charset="0"/>
                <a:ea typeface="Calibri" pitchFamily="34" charset="-122"/>
                <a:cs typeface="Calibri" pitchFamily="34" charset="-120"/>
              </a:rPr>
              <a:t>2. </a:t>
            </a:r>
            <a:r>
              <a:rPr lang="en-US" sz="1600" dirty="0">
                <a:solidFill>
                  <a:srgbClr val="333333"/>
                </a:solidFill>
                <a:latin typeface="Calibri" pitchFamily="34" charset="0"/>
                <a:ea typeface="Calibri" pitchFamily="34" charset="-122"/>
                <a:cs typeface="Calibri" pitchFamily="34" charset="-120"/>
              </a:rPr>
              <a:t>Efron &amp; Tibshirani — An Introduction to the Bootstrap. Chapman and Hall.
</a:t>
            </a:r>
            <a:r>
              <a:rPr lang="en-US" sz="1600" b="1" dirty="0">
                <a:solidFill>
                  <a:srgbClr val="333333"/>
                </a:solidFill>
                <a:latin typeface="Calibri" pitchFamily="34" charset="0"/>
                <a:ea typeface="Calibri" pitchFamily="34" charset="-122"/>
                <a:cs typeface="Calibri" pitchFamily="34" charset="-120"/>
              </a:rPr>
              <a:t>3. </a:t>
            </a:r>
            <a:r>
              <a:rPr lang="en-US" sz="1600" dirty="0">
                <a:solidFill>
                  <a:srgbClr val="333333"/>
                </a:solidFill>
                <a:latin typeface="Calibri" pitchFamily="34" charset="0"/>
                <a:ea typeface="Calibri" pitchFamily="34" charset="-122"/>
                <a:cs typeface="Calibri" pitchFamily="34" charset="-120"/>
              </a:rPr>
              <a:t>Hastie, Tibshirani &amp; Friedman — Elements of Statistical Learning. Springer.
</a:t>
            </a:r>
            <a:r>
              <a:rPr lang="en-US" sz="1600" b="1" dirty="0">
                <a:solidFill>
                  <a:srgbClr val="333333"/>
                </a:solidFill>
                <a:latin typeface="Calibri" pitchFamily="34" charset="0"/>
                <a:ea typeface="Calibri" pitchFamily="34" charset="-122"/>
                <a:cs typeface="Calibri" pitchFamily="34" charset="-120"/>
              </a:rPr>
              <a:t>4. </a:t>
            </a:r>
            <a:r>
              <a:rPr lang="en-US" sz="1600" dirty="0">
                <a:solidFill>
                  <a:srgbClr val="333333"/>
                </a:solidFill>
                <a:latin typeface="Calibri" pitchFamily="34" charset="0"/>
                <a:ea typeface="Calibri" pitchFamily="34" charset="-122"/>
                <a:cs typeface="Calibri" pitchFamily="34" charset="-120"/>
              </a:rPr>
              <a:t>Tibshirani et al. — Significance Analysis of Microarrays (SAM).
🏆 </a:t>
            </a:r>
            <a:r>
              <a:rPr lang="en-US" sz="1600" i="1" dirty="0">
                <a:solidFill>
                  <a:srgbClr val="1B3A5C"/>
                </a:solidFill>
                <a:latin typeface="Calibri" pitchFamily="34" charset="0"/>
                <a:ea typeface="Calibri" pitchFamily="34" charset="-122"/>
                <a:cs typeface="Calibri" pitchFamily="34" charset="-120"/>
              </a:rPr>
              <a:t>COPSS Presidents' Award 1996 · Fellow ASA &amp; IMS · Royal Society 2019</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American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Wavelets</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Compressed Sensing</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High-Dim Stats</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Reproducibility</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Dr. David Donoho</a:t>
            </a:r>
            <a:endParaRPr lang="en-US" sz="3200" dirty="0"/>
          </a:p>
        </p:txBody>
      </p:sp>
      <p:sp>
        <p:nvSpPr>
          <p:cNvPr id="16" name="Text 14"/>
          <p:cNvSpPr/>
          <p:nvPr/>
        </p:nvSpPr>
        <p:spPr>
          <a:xfrm>
            <a:off x="3520439" y="914400"/>
            <a:ext cx="5513201" cy="347472"/>
          </a:xfrm>
          <a:prstGeom prst="rect">
            <a:avLst/>
          </a:prstGeom>
          <a:noFill/>
          <a:ln/>
        </p:spPr>
        <p:txBody>
          <a:bodyPr wrap="square" rtlCol="0" anchor="ctr"/>
          <a:lstStyle/>
          <a:p>
            <a:pPr marL="0" indent="0" algn="l">
              <a:buNone/>
            </a:pPr>
            <a:r>
              <a:rPr lang="en-US" sz="1600" i="1" dirty="0">
                <a:solidFill>
                  <a:srgbClr val="C9A84C"/>
                </a:solidFill>
                <a:latin typeface="Calibri" pitchFamily="34" charset="0"/>
                <a:ea typeface="Calibri" pitchFamily="34" charset="-122"/>
                <a:cs typeface="Calibri" pitchFamily="34" charset="-120"/>
              </a:rPr>
              <a:t>Mathematician | Statistician | Data Science Pioneer | Stanford</a:t>
            </a:r>
            <a:endParaRPr lang="en-US" sz="16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383280" y="1417320"/>
            <a:ext cx="5486400" cy="3689604"/>
          </a:xfrm>
          <a:prstGeom prst="rect">
            <a:avLst/>
          </a:prstGeom>
          <a:noFill/>
          <a:ln/>
        </p:spPr>
        <p:txBody>
          <a:bodyPr wrap="square" rtlCol="0" anchor="ctr"/>
          <a:lstStyle/>
          <a:p>
            <a:pPr marL="0" indent="0" algn="l">
              <a:buNone/>
            </a:pPr>
            <a:r>
              <a:rPr lang="en-US" sz="2200" dirty="0">
                <a:solidFill>
                  <a:srgbClr val="D0DCE8"/>
                </a:solidFill>
                <a:latin typeface="Calibri" pitchFamily="34" charset="0"/>
                <a:ea typeface="Calibri" pitchFamily="34" charset="-122"/>
                <a:cs typeface="Calibri" pitchFamily="34" charset="-120"/>
              </a:rPr>
              <a:t>Undergraduate at Princeton; PhD from Harvard. Holds the Anne T. &amp; Robert M. Bass Professorship at Stanford. MacArthur Fellowship (1992), COPSS Presidents' Award, Norbert Wiener Prize, Shaw Prize in Mathematical Sciences. Member of the NAS and AAAS. One of the most-cited mathematicians in the world, his work spans signal processing, high-dimensional statistics, and the foundations of data science</a:t>
            </a:r>
            <a:r>
              <a:rPr lang="en-US" sz="1200" dirty="0">
                <a:solidFill>
                  <a:srgbClr val="D0DCE8"/>
                </a:solidFill>
                <a:latin typeface="Calibri" pitchFamily="34" charset="0"/>
                <a:ea typeface="Calibri" pitchFamily="34" charset="-122"/>
                <a:cs typeface="Calibri" pitchFamily="34" charset="-120"/>
              </a:rPr>
              <a:t>.</a:t>
            </a:r>
            <a:endParaRPr lang="en-US" sz="1200" dirty="0"/>
          </a:p>
        </p:txBody>
      </p:sp>
      <p:pic>
        <p:nvPicPr>
          <p:cNvPr id="20" name="Picture 19">
            <a:extLst>
              <a:ext uri="{FF2B5EF4-FFF2-40B4-BE49-F238E27FC236}">
                <a16:creationId xmlns:a16="http://schemas.microsoft.com/office/drawing/2014/main" id="{CDE402F5-426B-EE01-FE26-298830F24C67}"/>
              </a:ext>
            </a:extLst>
          </p:cNvPr>
          <p:cNvPicPr>
            <a:picLocks noChangeAspect="1"/>
          </p:cNvPicPr>
          <p:nvPr/>
        </p:nvPicPr>
        <p:blipFill>
          <a:blip r:embed="rId3"/>
          <a:stretch>
            <a:fillRect/>
          </a:stretch>
        </p:blipFill>
        <p:spPr>
          <a:xfrm>
            <a:off x="212834" y="274321"/>
            <a:ext cx="2804686" cy="27249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Dr. David Donoho — Contributions &amp; Publications</a:t>
            </a:r>
            <a:endParaRPr lang="en-US" sz="28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32702"/>
            <a:ext cx="3931920" cy="365760"/>
          </a:xfrm>
          <a:prstGeom prst="rect">
            <a:avLst/>
          </a:prstGeom>
          <a:noFill/>
          <a:ln/>
        </p:spPr>
        <p:txBody>
          <a:bodyPr wrap="square" rtlCol="0" anchor="ctr"/>
          <a:lstStyle/>
          <a:p>
            <a:pPr marL="0" indent="0">
              <a:buNone/>
            </a:pPr>
            <a:r>
              <a:rPr lang="en-US" sz="2000" b="1" dirty="0">
                <a:solidFill>
                  <a:srgbClr val="0D1B2A"/>
                </a:solidFill>
                <a:latin typeface="Cambria" pitchFamily="34" charset="0"/>
                <a:ea typeface="Cambria" pitchFamily="34" charset="-122"/>
                <a:cs typeface="Cambria" pitchFamily="34" charset="-120"/>
              </a:rPr>
              <a:t>Key Contributions</a:t>
            </a:r>
            <a:endParaRPr lang="en-US" sz="2000" dirty="0"/>
          </a:p>
        </p:txBody>
      </p:sp>
      <p:sp>
        <p:nvSpPr>
          <p:cNvPr id="6" name="Shape 4"/>
          <p:cNvSpPr/>
          <p:nvPr/>
        </p:nvSpPr>
        <p:spPr>
          <a:xfrm>
            <a:off x="0" y="1072290"/>
            <a:ext cx="2490952" cy="45719"/>
          </a:xfrm>
          <a:prstGeom prst="rect">
            <a:avLst/>
          </a:prstGeom>
          <a:solidFill>
            <a:srgbClr val="C9A84C"/>
          </a:solidFill>
          <a:ln w="12700">
            <a:solidFill>
              <a:srgbClr val="C9A84C"/>
            </a:solidFill>
            <a:prstDash val="solid"/>
          </a:ln>
        </p:spPr>
      </p:sp>
      <p:sp>
        <p:nvSpPr>
          <p:cNvPr id="7" name="Text 5"/>
          <p:cNvSpPr/>
          <p:nvPr/>
        </p:nvSpPr>
        <p:spPr>
          <a:xfrm>
            <a:off x="0" y="1143000"/>
            <a:ext cx="4526280" cy="3909060"/>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Wavelets &amp; Image Compression</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Leading figure in wavelet theory; work directly influenced JPEG2000 — used in digital photography, medical imaging (CT/X-ray), and satellite imagery.
</a:t>
            </a:r>
            <a:r>
              <a:rPr lang="en-US" sz="1600" b="1" dirty="0">
                <a:solidFill>
                  <a:srgbClr val="0D1B2A"/>
                </a:solidFill>
                <a:latin typeface="Calibri" pitchFamily="34" charset="0"/>
                <a:ea typeface="Calibri" pitchFamily="34" charset="-122"/>
                <a:cs typeface="Calibri" pitchFamily="34" charset="-120"/>
              </a:rPr>
              <a:t>Compressed Sensing</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With Candès &amp; Tao (2006): accurate signal reconstruction from far fewer measurements than classical theory requires. MRI scans now completed in a fraction of previous time.
</a:t>
            </a:r>
            <a:r>
              <a:rPr lang="en-US" sz="1600" b="1" dirty="0">
                <a:solidFill>
                  <a:srgbClr val="0D1B2A"/>
                </a:solidFill>
                <a:latin typeface="Calibri" pitchFamily="34" charset="0"/>
                <a:ea typeface="Calibri" pitchFamily="34" charset="-122"/>
                <a:cs typeface="Calibri" pitchFamily="34" charset="-120"/>
              </a:rPr>
              <a:t>50 Years of Data Science (2017)</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Influential essay on rigorous, transparent data science practice. Also a key voice on the reproducibility crisis in science.</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800600" y="732702"/>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59" y="1064802"/>
            <a:ext cx="2613923" cy="45719"/>
          </a:xfrm>
          <a:prstGeom prst="rect">
            <a:avLst/>
          </a:prstGeom>
          <a:solidFill>
            <a:srgbClr val="C9A84C"/>
          </a:solidFill>
          <a:ln w="12700">
            <a:solidFill>
              <a:srgbClr val="C9A84C"/>
            </a:solidFill>
            <a:prstDash val="solid"/>
          </a:ln>
        </p:spPr>
      </p:sp>
      <p:sp>
        <p:nvSpPr>
          <p:cNvPr id="11" name="Text 9"/>
          <p:cNvSpPr/>
          <p:nvPr/>
        </p:nvSpPr>
        <p:spPr>
          <a:xfrm>
            <a:off x="4709159" y="1118009"/>
            <a:ext cx="4434839" cy="3934051"/>
          </a:xfrm>
          <a:prstGeom prst="rect">
            <a:avLst/>
          </a:prstGeom>
          <a:noFill/>
          <a:ln/>
        </p:spPr>
        <p:txBody>
          <a:bodyPr wrap="square" rtlCol="0" anchor="ctr"/>
          <a:lstStyle/>
          <a:p>
            <a:pPr marL="0" indent="0" algn="l">
              <a:buNone/>
            </a:pPr>
            <a:r>
              <a:rPr lang="en-US" sz="1600" b="1" dirty="0">
                <a:solidFill>
                  <a:srgbClr val="333333"/>
                </a:solidFill>
                <a:latin typeface="Calibri" pitchFamily="34" charset="0"/>
                <a:ea typeface="Calibri" pitchFamily="34" charset="-122"/>
                <a:cs typeface="Calibri" pitchFamily="34" charset="-120"/>
              </a:rPr>
              <a:t>1. </a:t>
            </a:r>
            <a:r>
              <a:rPr lang="en-US" sz="1600" dirty="0">
                <a:solidFill>
                  <a:srgbClr val="333333"/>
                </a:solidFill>
                <a:latin typeface="Calibri" pitchFamily="34" charset="0"/>
                <a:ea typeface="Calibri" pitchFamily="34" charset="-122"/>
                <a:cs typeface="Calibri" pitchFamily="34" charset="-120"/>
              </a:rPr>
              <a:t>Donoho &amp; Johnstone (1994) 'Ideal Spatial Adaptation by Wavelet Shrinkage', Biometrika 81(3).
</a:t>
            </a:r>
            <a:r>
              <a:rPr lang="en-US" sz="1600" b="1" dirty="0">
                <a:solidFill>
                  <a:srgbClr val="333333"/>
                </a:solidFill>
                <a:latin typeface="Calibri" pitchFamily="34" charset="0"/>
                <a:ea typeface="Calibri" pitchFamily="34" charset="-122"/>
                <a:cs typeface="Calibri" pitchFamily="34" charset="-120"/>
              </a:rPr>
              <a:t>2. </a:t>
            </a:r>
            <a:r>
              <a:rPr lang="en-US" sz="1600" dirty="0">
                <a:solidFill>
                  <a:srgbClr val="333333"/>
                </a:solidFill>
                <a:latin typeface="Calibri" pitchFamily="34" charset="0"/>
                <a:ea typeface="Calibri" pitchFamily="34" charset="-122"/>
                <a:cs typeface="Calibri" pitchFamily="34" charset="-120"/>
              </a:rPr>
              <a:t>Donoho (1995) 'De-noising by Soft-Thresholding', IEEE Trans. Info. Theory 41(3).
</a:t>
            </a:r>
            <a:r>
              <a:rPr lang="en-US" sz="1600" b="1" dirty="0">
                <a:solidFill>
                  <a:srgbClr val="333333"/>
                </a:solidFill>
                <a:latin typeface="Calibri" pitchFamily="34" charset="0"/>
                <a:ea typeface="Calibri" pitchFamily="34" charset="-122"/>
                <a:cs typeface="Calibri" pitchFamily="34" charset="-120"/>
              </a:rPr>
              <a:t>3. </a:t>
            </a:r>
            <a:r>
              <a:rPr lang="en-US" sz="1600" dirty="0">
                <a:solidFill>
                  <a:srgbClr val="333333"/>
                </a:solidFill>
                <a:latin typeface="Calibri" pitchFamily="34" charset="0"/>
                <a:ea typeface="Calibri" pitchFamily="34" charset="-122"/>
                <a:cs typeface="Calibri" pitchFamily="34" charset="-120"/>
              </a:rPr>
              <a:t>Candès, Romberg &amp; Tao (2006) 'Robust Uncertainty Principles', IEEE Trans. Info. Theory 52(2).
</a:t>
            </a:r>
            <a:r>
              <a:rPr lang="en-US" sz="1600" b="1" dirty="0">
                <a:solidFill>
                  <a:srgbClr val="333333"/>
                </a:solidFill>
                <a:latin typeface="Calibri" pitchFamily="34" charset="0"/>
                <a:ea typeface="Calibri" pitchFamily="34" charset="-122"/>
                <a:cs typeface="Calibri" pitchFamily="34" charset="-120"/>
              </a:rPr>
              <a:t>4. </a:t>
            </a:r>
            <a:r>
              <a:rPr lang="en-US" sz="1600" dirty="0">
                <a:solidFill>
                  <a:srgbClr val="333333"/>
                </a:solidFill>
                <a:latin typeface="Calibri" pitchFamily="34" charset="0"/>
                <a:ea typeface="Calibri" pitchFamily="34" charset="-122"/>
                <a:cs typeface="Calibri" pitchFamily="34" charset="-120"/>
              </a:rPr>
              <a:t>Donoho (2006) 'Compressed Sensing', IEEE Trans. Info. Theory 52(4).
</a:t>
            </a:r>
            <a:r>
              <a:rPr lang="en-US" sz="1600" b="1" dirty="0">
                <a:solidFill>
                  <a:srgbClr val="333333"/>
                </a:solidFill>
                <a:latin typeface="Calibri" pitchFamily="34" charset="0"/>
                <a:ea typeface="Calibri" pitchFamily="34" charset="-122"/>
                <a:cs typeface="Calibri" pitchFamily="34" charset="-120"/>
              </a:rPr>
              <a:t>5. </a:t>
            </a:r>
            <a:r>
              <a:rPr lang="en-US" sz="1600" dirty="0">
                <a:solidFill>
                  <a:srgbClr val="333333"/>
                </a:solidFill>
                <a:latin typeface="Calibri" pitchFamily="34" charset="0"/>
                <a:ea typeface="Calibri" pitchFamily="34" charset="-122"/>
                <a:cs typeface="Calibri" pitchFamily="34" charset="-120"/>
              </a:rPr>
              <a:t>Donoho (2017) '50 Years of Data Science', J. Computational &amp; Graphical Statistics 26(4).</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American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Bayesian Stats</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Multilevel Models</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Stan</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Political Science</a:t>
            </a:r>
            <a:endParaRPr lang="en-US" sz="950" dirty="0"/>
          </a:p>
        </p:txBody>
      </p:sp>
      <p:sp>
        <p:nvSpPr>
          <p:cNvPr id="15" name="Text 13"/>
          <p:cNvSpPr/>
          <p:nvPr/>
        </p:nvSpPr>
        <p:spPr>
          <a:xfrm>
            <a:off x="3520440" y="196754"/>
            <a:ext cx="5349240" cy="68580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Prof. Andrew Gelman</a:t>
            </a:r>
            <a:endParaRPr lang="en-US" sz="3600" dirty="0"/>
          </a:p>
        </p:txBody>
      </p:sp>
      <p:sp>
        <p:nvSpPr>
          <p:cNvPr id="16" name="Text 14"/>
          <p:cNvSpPr/>
          <p:nvPr/>
        </p:nvSpPr>
        <p:spPr>
          <a:xfrm>
            <a:off x="3520440" y="914400"/>
            <a:ext cx="5349240" cy="347472"/>
          </a:xfrm>
          <a:prstGeom prst="rect">
            <a:avLst/>
          </a:prstGeom>
          <a:noFill/>
          <a:ln/>
        </p:spPr>
        <p:txBody>
          <a:bodyPr wrap="square" rtlCol="0" anchor="ctr"/>
          <a:lstStyle/>
          <a:p>
            <a:pPr marL="0" indent="0" algn="l">
              <a:buNone/>
            </a:pPr>
            <a:r>
              <a:rPr lang="en-US" sz="1600" i="1" dirty="0">
                <a:solidFill>
                  <a:srgbClr val="C9A84C"/>
                </a:solidFill>
                <a:latin typeface="Calibri" pitchFamily="34" charset="0"/>
                <a:ea typeface="Calibri" pitchFamily="34" charset="-122"/>
                <a:cs typeface="Calibri" pitchFamily="34" charset="-120"/>
              </a:rPr>
              <a:t>Statistician | Bayesian Methods Pioneer | Columbia University</a:t>
            </a:r>
            <a:endParaRPr lang="en-US" sz="16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474720"/>
          </a:xfrm>
          <a:prstGeom prst="rect">
            <a:avLst/>
          </a:prstGeom>
          <a:noFill/>
          <a:ln/>
        </p:spPr>
        <p:txBody>
          <a:bodyPr wrap="square" rtlCol="0" anchor="ctr"/>
          <a:lstStyle/>
          <a:p>
            <a:pPr marL="0" indent="0" algn="l">
              <a:buNone/>
            </a:pPr>
            <a:r>
              <a:rPr lang="en-US" sz="2200" dirty="0">
                <a:solidFill>
                  <a:srgbClr val="D0DCE8"/>
                </a:solidFill>
                <a:latin typeface="Calibri" pitchFamily="34" charset="0"/>
                <a:ea typeface="Calibri" pitchFamily="34" charset="-122"/>
                <a:cs typeface="Calibri" pitchFamily="34" charset="-120"/>
              </a:rPr>
              <a:t>Born February 11, 1965, Philadelphia. BS Mathematics &amp; Physics, MIT (1986); PhD Statistics, Harvard (1990) under Donald Rubin. Higgins Professor of Statistics &amp; Professor of Political Science, Columbia University. COPSS Presidents' Award (2003). Elected Fellow, ASA, IMS, and American Academy of Arts &amp; Sciences (2020). Co-developer of Stan — a widely used probabilistic programming language.</a:t>
            </a:r>
            <a:endParaRPr lang="en-US" sz="2200" dirty="0"/>
          </a:p>
        </p:txBody>
      </p:sp>
      <p:pic>
        <p:nvPicPr>
          <p:cNvPr id="20" name="Picture 19">
            <a:extLst>
              <a:ext uri="{FF2B5EF4-FFF2-40B4-BE49-F238E27FC236}">
                <a16:creationId xmlns:a16="http://schemas.microsoft.com/office/drawing/2014/main" id="{EE38CB5B-FA71-DF21-FFB5-EF03286717DA}"/>
              </a:ext>
            </a:extLst>
          </p:cNvPr>
          <p:cNvPicPr>
            <a:picLocks noChangeAspect="1"/>
          </p:cNvPicPr>
          <p:nvPr/>
        </p:nvPicPr>
        <p:blipFill>
          <a:blip r:embed="rId3"/>
          <a:stretch>
            <a:fillRect/>
          </a:stretch>
        </p:blipFill>
        <p:spPr>
          <a:xfrm>
            <a:off x="274321" y="320040"/>
            <a:ext cx="2743200" cy="26517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Prof. Andrew Gelman — Contributions &amp; Publications</a:t>
            </a:r>
            <a:endParaRPr lang="en-US" sz="24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85596"/>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0" y="1106423"/>
            <a:ext cx="2183524" cy="45719"/>
          </a:xfrm>
          <a:prstGeom prst="rect">
            <a:avLst/>
          </a:prstGeom>
          <a:solidFill>
            <a:srgbClr val="C9A84C"/>
          </a:solidFill>
          <a:ln w="12700">
            <a:solidFill>
              <a:srgbClr val="C9A84C"/>
            </a:solidFill>
            <a:prstDash val="solid"/>
          </a:ln>
        </p:spPr>
      </p:sp>
      <p:sp>
        <p:nvSpPr>
          <p:cNvPr id="7" name="Text 5"/>
          <p:cNvSpPr/>
          <p:nvPr/>
        </p:nvSpPr>
        <p:spPr>
          <a:xfrm>
            <a:off x="0" y="1242796"/>
            <a:ext cx="4526280" cy="3809264"/>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Bayesian Data Analysis &amp; Stan</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Co-developed Stan (open-source), used in academia, government, pharma, and tech worldwide. His Bayesian Data Analysis textbook is the graduate standard across disciplines.
</a:t>
            </a:r>
            <a:r>
              <a:rPr lang="en-US" sz="1600" b="1" dirty="0">
                <a:solidFill>
                  <a:srgbClr val="0D1B2A"/>
                </a:solidFill>
                <a:latin typeface="Calibri" pitchFamily="34" charset="0"/>
                <a:ea typeface="Calibri" pitchFamily="34" charset="-122"/>
                <a:cs typeface="Calibri" pitchFamily="34" charset="-120"/>
              </a:rPr>
              <a:t>Multilevel Modelling</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Made hierarchical models standard tools in social science, epidemiology, and education research.
</a:t>
            </a:r>
            <a:r>
              <a:rPr lang="en-US" sz="1600" b="1" dirty="0">
                <a:solidFill>
                  <a:srgbClr val="0D1B2A"/>
                </a:solidFill>
                <a:latin typeface="Calibri" pitchFamily="34" charset="0"/>
                <a:ea typeface="Calibri" pitchFamily="34" charset="-122"/>
                <a:cs typeface="Calibri" pitchFamily="34" charset="-120"/>
              </a:rPr>
              <a:t>Statistical Reform &amp; Reproducibility</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Coined 'garden of forking paths' to explain inflated research findings. Consistent critic of p-value misuse. Public blog since 2004 widely read by researchers globally.</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77240"/>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59" y="1106423"/>
            <a:ext cx="2432619" cy="45719"/>
          </a:xfrm>
          <a:prstGeom prst="rect">
            <a:avLst/>
          </a:prstGeom>
          <a:solidFill>
            <a:srgbClr val="C9A84C"/>
          </a:solidFill>
          <a:ln w="12700">
            <a:solidFill>
              <a:srgbClr val="C9A84C"/>
            </a:solidFill>
            <a:prstDash val="solid"/>
          </a:ln>
        </p:spPr>
      </p:sp>
      <p:sp>
        <p:nvSpPr>
          <p:cNvPr id="11" name="Text 9"/>
          <p:cNvSpPr/>
          <p:nvPr/>
        </p:nvSpPr>
        <p:spPr>
          <a:xfrm>
            <a:off x="4709159" y="1152142"/>
            <a:ext cx="4434839" cy="3899918"/>
          </a:xfrm>
          <a:prstGeom prst="rect">
            <a:avLst/>
          </a:prstGeom>
          <a:noFill/>
          <a:ln/>
        </p:spPr>
        <p:txBody>
          <a:bodyPr wrap="square" rtlCol="0" anchor="ctr"/>
          <a:lstStyle/>
          <a:p>
            <a:pPr marL="0" indent="0" algn="l">
              <a:buNone/>
            </a:pPr>
            <a:r>
              <a:rPr lang="en-US" sz="1600" b="1" dirty="0">
                <a:solidFill>
                  <a:srgbClr val="333333"/>
                </a:solidFill>
                <a:latin typeface="Calibri" pitchFamily="34" charset="0"/>
                <a:ea typeface="Calibri" pitchFamily="34" charset="-122"/>
                <a:cs typeface="Calibri" pitchFamily="34" charset="-120"/>
              </a:rPr>
              <a:t>1. </a:t>
            </a:r>
            <a:r>
              <a:rPr lang="en-US" sz="1600" dirty="0">
                <a:solidFill>
                  <a:srgbClr val="333333"/>
                </a:solidFill>
                <a:latin typeface="Calibri" pitchFamily="34" charset="0"/>
                <a:ea typeface="Calibri" pitchFamily="34" charset="-122"/>
                <a:cs typeface="Calibri" pitchFamily="34" charset="-120"/>
              </a:rPr>
              <a:t>Gelman et al. (1995/3rd ed. 2013) Bayesian Data Analysis. Chapman &amp; Hall/CRC.
</a:t>
            </a:r>
            <a:r>
              <a:rPr lang="en-US" sz="1600" b="1" dirty="0">
                <a:solidFill>
                  <a:srgbClr val="333333"/>
                </a:solidFill>
                <a:latin typeface="Calibri" pitchFamily="34" charset="0"/>
                <a:ea typeface="Calibri" pitchFamily="34" charset="-122"/>
                <a:cs typeface="Calibri" pitchFamily="34" charset="-120"/>
              </a:rPr>
              <a:t>2. </a:t>
            </a:r>
            <a:r>
              <a:rPr lang="en-US" sz="1600" dirty="0">
                <a:solidFill>
                  <a:srgbClr val="333333"/>
                </a:solidFill>
                <a:latin typeface="Calibri" pitchFamily="34" charset="0"/>
                <a:ea typeface="Calibri" pitchFamily="34" charset="-122"/>
                <a:cs typeface="Calibri" pitchFamily="34" charset="-120"/>
              </a:rPr>
              <a:t>Gelman &amp; Hill (2006) Data Analysis Using Regression and Multilevel/Hierarchical Models. Cambridge.
</a:t>
            </a:r>
            <a:r>
              <a:rPr lang="en-US" sz="1600" b="1" dirty="0">
                <a:solidFill>
                  <a:srgbClr val="333333"/>
                </a:solidFill>
                <a:latin typeface="Calibri" pitchFamily="34" charset="0"/>
                <a:ea typeface="Calibri" pitchFamily="34" charset="-122"/>
                <a:cs typeface="Calibri" pitchFamily="34" charset="-120"/>
              </a:rPr>
              <a:t>3. </a:t>
            </a:r>
            <a:r>
              <a:rPr lang="en-US" sz="1600" dirty="0">
                <a:solidFill>
                  <a:srgbClr val="333333"/>
                </a:solidFill>
                <a:latin typeface="Calibri" pitchFamily="34" charset="0"/>
                <a:ea typeface="Calibri" pitchFamily="34" charset="-122"/>
                <a:cs typeface="Calibri" pitchFamily="34" charset="-120"/>
              </a:rPr>
              <a:t>Gelman et al. (2008) Red State, Blue State, Rich State, Poor State. Princeton UP.
</a:t>
            </a:r>
            <a:r>
              <a:rPr lang="en-US" sz="1600" b="1" dirty="0">
                <a:solidFill>
                  <a:srgbClr val="333333"/>
                </a:solidFill>
                <a:latin typeface="Calibri" pitchFamily="34" charset="0"/>
                <a:ea typeface="Calibri" pitchFamily="34" charset="-122"/>
                <a:cs typeface="Calibri" pitchFamily="34" charset="-120"/>
              </a:rPr>
              <a:t>4. </a:t>
            </a:r>
            <a:r>
              <a:rPr lang="en-US" sz="1600" dirty="0">
                <a:solidFill>
                  <a:srgbClr val="333333"/>
                </a:solidFill>
                <a:latin typeface="Calibri" pitchFamily="34" charset="0"/>
                <a:ea typeface="Calibri" pitchFamily="34" charset="-122"/>
                <a:cs typeface="Calibri" pitchFamily="34" charset="-120"/>
              </a:rPr>
              <a:t>Gelman, Hill &amp; Vehtari (2020) Regression and Other Stories. Cambridge.
🏆 </a:t>
            </a:r>
            <a:r>
              <a:rPr lang="en-US" sz="1600" i="1" dirty="0">
                <a:solidFill>
                  <a:srgbClr val="1B3A5C"/>
                </a:solidFill>
                <a:latin typeface="Calibri" pitchFamily="34" charset="0"/>
                <a:ea typeface="Calibri" pitchFamily="34" charset="-122"/>
                <a:cs typeface="Calibri" pitchFamily="34" charset="-120"/>
              </a:rPr>
              <a:t>COPSS 2003 · ASA Fellow · AAAS 2020 · Mitchell Prize &amp; DeGroot Prize (ISBA 2008)</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Ghanaian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Microfinance</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Poverty &amp; Inequality</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Data Governance</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Health Outcomes</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Prof. Samuel Kobina Annim</a:t>
            </a:r>
            <a:endParaRPr lang="en-US" sz="3200" dirty="0"/>
          </a:p>
        </p:txBody>
      </p:sp>
      <p:sp>
        <p:nvSpPr>
          <p:cNvPr id="16" name="Text 14"/>
          <p:cNvSpPr/>
          <p:nvPr/>
        </p:nvSpPr>
        <p:spPr>
          <a:xfrm>
            <a:off x="3460531" y="914400"/>
            <a:ext cx="5604641" cy="347472"/>
          </a:xfrm>
          <a:prstGeom prst="rect">
            <a:avLst/>
          </a:prstGeom>
          <a:noFill/>
          <a:ln/>
        </p:spPr>
        <p:txBody>
          <a:bodyPr wrap="square" rtlCol="0" anchor="ctr"/>
          <a:lstStyle/>
          <a:p>
            <a:pPr marL="0" indent="0" algn="l">
              <a:buNone/>
            </a:pPr>
            <a:r>
              <a:rPr lang="en-US" sz="1400" i="1" dirty="0">
                <a:solidFill>
                  <a:srgbClr val="C9A84C"/>
                </a:solidFill>
                <a:latin typeface="Calibri" pitchFamily="34" charset="0"/>
                <a:ea typeface="Calibri" pitchFamily="34" charset="-122"/>
                <a:cs typeface="Calibri" pitchFamily="34" charset="-120"/>
              </a:rPr>
              <a:t>Economist | Statistician | Former Government Statistician of Ghana</a:t>
            </a:r>
            <a:endParaRPr lang="en-US" sz="14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474720"/>
          </a:xfrm>
          <a:prstGeom prst="rect">
            <a:avLst/>
          </a:prstGeom>
          <a:noFill/>
          <a:ln/>
        </p:spPr>
        <p:txBody>
          <a:bodyPr wrap="square" rtlCol="0" anchor="ctr"/>
          <a:lstStyle/>
          <a:p>
            <a:pPr marL="0" indent="0" algn="l">
              <a:buNone/>
            </a:pPr>
            <a:r>
              <a:rPr lang="en-US" sz="2400" dirty="0">
                <a:solidFill>
                  <a:srgbClr val="D0DCE8"/>
                </a:solidFill>
                <a:latin typeface="Calibri" pitchFamily="34" charset="0"/>
                <a:ea typeface="Calibri" pitchFamily="34" charset="-122"/>
                <a:cs typeface="Calibri" pitchFamily="34" charset="-120"/>
              </a:rPr>
              <a:t>BA Economics, University of Cape Coast; PhD from University of Manchester; Post-doctoral Fellow, University of Central Lancashire. Professor at UCC, then Government Statistician of Ghana (GSS) 2019–2025. Co-chaired the UN High-Level Group for Statistics for the 2030 Agenda. Approximately 80 peer-reviewed publications; over 3,240 citations.</a:t>
            </a:r>
            <a:endParaRPr lang="en-US" sz="2400" dirty="0"/>
          </a:p>
        </p:txBody>
      </p:sp>
      <p:pic>
        <p:nvPicPr>
          <p:cNvPr id="20" name="Picture 19">
            <a:extLst>
              <a:ext uri="{FF2B5EF4-FFF2-40B4-BE49-F238E27FC236}">
                <a16:creationId xmlns:a16="http://schemas.microsoft.com/office/drawing/2014/main" id="{BF9DA5FB-D313-A7EA-3A5A-33F0C8C5CEF8}"/>
              </a:ext>
            </a:extLst>
          </p:cNvPr>
          <p:cNvPicPr>
            <a:picLocks noChangeAspect="1"/>
          </p:cNvPicPr>
          <p:nvPr/>
        </p:nvPicPr>
        <p:blipFill>
          <a:blip r:embed="rId3"/>
          <a:stretch>
            <a:fillRect/>
          </a:stretch>
        </p:blipFill>
        <p:spPr>
          <a:xfrm>
            <a:off x="274320" y="320040"/>
            <a:ext cx="2743199" cy="2651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228600" y="91440"/>
            <a:ext cx="854964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Prof. Samuel Kobina Annim — Contributions &amp; Publications</a:t>
            </a:r>
            <a:endParaRPr lang="en-US" sz="24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77240"/>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1" y="1083563"/>
            <a:ext cx="2230821" cy="45719"/>
          </a:xfrm>
          <a:prstGeom prst="rect">
            <a:avLst/>
          </a:prstGeom>
          <a:solidFill>
            <a:srgbClr val="C9A84C"/>
          </a:solidFill>
          <a:ln w="12700">
            <a:solidFill>
              <a:srgbClr val="C9A84C"/>
            </a:solidFill>
            <a:prstDash val="solid"/>
          </a:ln>
        </p:spPr>
      </p:sp>
      <p:sp>
        <p:nvSpPr>
          <p:cNvPr id="7" name="Text 5"/>
          <p:cNvSpPr/>
          <p:nvPr/>
        </p:nvSpPr>
        <p:spPr>
          <a:xfrm>
            <a:off x="0" y="1143000"/>
            <a:ext cx="4526280" cy="3909060"/>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Modernising National Statistics</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As Government Statistician, integrated data science, AI-readiness, and experimental methods into Ghana Statistical Service — championing that $1 invested in data yields ~$32 in development value.
</a:t>
            </a:r>
            <a:r>
              <a:rPr lang="en-US" sz="1600" b="1" dirty="0">
                <a:solidFill>
                  <a:srgbClr val="0D1B2A"/>
                </a:solidFill>
                <a:latin typeface="Calibri" pitchFamily="34" charset="0"/>
                <a:ea typeface="Calibri" pitchFamily="34" charset="-122"/>
                <a:cs typeface="Calibri" pitchFamily="34" charset="-120"/>
              </a:rPr>
              <a:t>Microfinance &amp; Poverty Research</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Extensive empirical work on MFI efficiency, child deprivation, income inequality, and gender gaps in financial access across Africa and Asia.
</a:t>
            </a:r>
            <a:r>
              <a:rPr lang="en-US" sz="1600" b="1" dirty="0">
                <a:solidFill>
                  <a:srgbClr val="0D1B2A"/>
                </a:solidFill>
                <a:latin typeface="Calibri" pitchFamily="34" charset="0"/>
                <a:ea typeface="Calibri" pitchFamily="34" charset="-122"/>
                <a:cs typeface="Calibri" pitchFamily="34" charset="-120"/>
              </a:rPr>
              <a:t>Academic Infrastructure</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Established UCC's Data Repository Centre; institutionalised microfinance research programmes connecting empirical rigour to poverty policy.</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77240"/>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60" y="1083562"/>
            <a:ext cx="2582392" cy="45719"/>
          </a:xfrm>
          <a:prstGeom prst="rect">
            <a:avLst/>
          </a:prstGeom>
          <a:solidFill>
            <a:srgbClr val="C9A84C"/>
          </a:solidFill>
          <a:ln w="12700">
            <a:solidFill>
              <a:srgbClr val="C9A84C"/>
            </a:solidFill>
            <a:prstDash val="solid"/>
          </a:ln>
        </p:spPr>
      </p:sp>
      <p:sp>
        <p:nvSpPr>
          <p:cNvPr id="11" name="Text 9"/>
          <p:cNvSpPr/>
          <p:nvPr/>
        </p:nvSpPr>
        <p:spPr>
          <a:xfrm>
            <a:off x="4709160" y="1129282"/>
            <a:ext cx="4434840" cy="3922778"/>
          </a:xfrm>
          <a:prstGeom prst="rect">
            <a:avLst/>
          </a:prstGeom>
          <a:noFill/>
          <a:ln/>
        </p:spPr>
        <p:txBody>
          <a:bodyPr wrap="square"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1. </a:t>
            </a:r>
            <a:r>
              <a:rPr lang="en-US" sz="1400" dirty="0">
                <a:solidFill>
                  <a:srgbClr val="333333"/>
                </a:solidFill>
                <a:latin typeface="Calibri" pitchFamily="34" charset="0"/>
                <a:ea typeface="Calibri" pitchFamily="34" charset="-122"/>
                <a:cs typeface="Calibri" pitchFamily="34" charset="-120"/>
              </a:rPr>
              <a:t>Imai, Arun &amp; Annim (2010) 'Microfinance &amp; Household Poverty Reduction', World Development 38(12).
</a:t>
            </a:r>
            <a:r>
              <a:rPr lang="en-US" sz="1400" b="1" dirty="0">
                <a:solidFill>
                  <a:srgbClr val="333333"/>
                </a:solidFill>
                <a:latin typeface="Calibri" pitchFamily="34" charset="0"/>
                <a:ea typeface="Calibri" pitchFamily="34" charset="-122"/>
                <a:cs typeface="Calibri" pitchFamily="34" charset="-120"/>
              </a:rPr>
              <a:t>2. </a:t>
            </a:r>
            <a:r>
              <a:rPr lang="en-US" sz="1400" dirty="0">
                <a:solidFill>
                  <a:srgbClr val="333333"/>
                </a:solidFill>
                <a:latin typeface="Calibri" pitchFamily="34" charset="0"/>
                <a:ea typeface="Calibri" pitchFamily="34" charset="-122"/>
                <a:cs typeface="Calibri" pitchFamily="34" charset="-120"/>
              </a:rPr>
              <a:t>Annim, Mariwah &amp; Sebu (2012) 'Spatial Inequality &amp; Household Poverty in Ghana', Economic Systems 36(4).
</a:t>
            </a:r>
            <a:r>
              <a:rPr lang="en-US" sz="1400" b="1" dirty="0">
                <a:solidFill>
                  <a:srgbClr val="333333"/>
                </a:solidFill>
                <a:latin typeface="Calibri" pitchFamily="34" charset="0"/>
                <a:ea typeface="Calibri" pitchFamily="34" charset="-122"/>
                <a:cs typeface="Calibri" pitchFamily="34" charset="-120"/>
              </a:rPr>
              <a:t>3. </a:t>
            </a:r>
            <a:r>
              <a:rPr lang="en-US" sz="1400" dirty="0">
                <a:solidFill>
                  <a:srgbClr val="333333"/>
                </a:solidFill>
                <a:latin typeface="Calibri" pitchFamily="34" charset="0"/>
                <a:ea typeface="Calibri" pitchFamily="34" charset="-122"/>
                <a:cs typeface="Calibri" pitchFamily="34" charset="-120"/>
              </a:rPr>
              <a:t>Imai, Gaiha, Thapa &amp; Annim (2012) 'Microfinance and Poverty: A Macro Perspective', World Development 40(8).
</a:t>
            </a:r>
            <a:r>
              <a:rPr lang="en-US" sz="1400" b="1" dirty="0">
                <a:solidFill>
                  <a:srgbClr val="333333"/>
                </a:solidFill>
                <a:latin typeface="Calibri" pitchFamily="34" charset="0"/>
                <a:ea typeface="Calibri" pitchFamily="34" charset="-122"/>
                <a:cs typeface="Calibri" pitchFamily="34" charset="-120"/>
              </a:rPr>
              <a:t>4. </a:t>
            </a:r>
            <a:r>
              <a:rPr lang="en-US" sz="1400" dirty="0">
                <a:solidFill>
                  <a:srgbClr val="333333"/>
                </a:solidFill>
                <a:latin typeface="Calibri" pitchFamily="34" charset="0"/>
                <a:ea typeface="Calibri" pitchFamily="34" charset="-122"/>
                <a:cs typeface="Calibri" pitchFamily="34" charset="-120"/>
              </a:rPr>
              <a:t>Imai, Annim et al. (2014) 'Women's Empowerment &amp; Prevalence of Stunted Children in Rural India', World Development 62.
</a:t>
            </a:r>
            <a:r>
              <a:rPr lang="en-US" sz="1400" b="1" dirty="0">
                <a:solidFill>
                  <a:srgbClr val="333333"/>
                </a:solidFill>
                <a:latin typeface="Calibri" pitchFamily="34" charset="0"/>
                <a:ea typeface="Calibri" pitchFamily="34" charset="-122"/>
                <a:cs typeface="Calibri" pitchFamily="34" charset="-120"/>
              </a:rPr>
              <a:t>5. </a:t>
            </a:r>
            <a:r>
              <a:rPr lang="en-US" sz="1400" dirty="0">
                <a:solidFill>
                  <a:srgbClr val="333333"/>
                </a:solidFill>
                <a:latin typeface="Calibri" pitchFamily="34" charset="0"/>
                <a:ea typeface="Calibri" pitchFamily="34" charset="-122"/>
                <a:cs typeface="Calibri" pitchFamily="34" charset="-120"/>
              </a:rPr>
              <a:t>You &amp; Annim (2014) 'Impact of Microcredit on Child Education', Journal of Development Studies 50(7).</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Ghanaian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Statistical Distributions</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Time Series</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Forecasting</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Machine Learning</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Prof. Suleman Nasiru</a:t>
            </a:r>
            <a:endParaRPr lang="en-US" sz="3200" dirty="0"/>
          </a:p>
        </p:txBody>
      </p:sp>
      <p:sp>
        <p:nvSpPr>
          <p:cNvPr id="16" name="Text 14"/>
          <p:cNvSpPr/>
          <p:nvPr/>
        </p:nvSpPr>
        <p:spPr>
          <a:xfrm>
            <a:off x="3520440" y="914400"/>
            <a:ext cx="5349240" cy="347472"/>
          </a:xfrm>
          <a:prstGeom prst="rect">
            <a:avLst/>
          </a:prstGeom>
          <a:noFill/>
          <a:ln/>
        </p:spPr>
        <p:txBody>
          <a:bodyPr wrap="square" rtlCol="0" anchor="ctr"/>
          <a:lstStyle/>
          <a:p>
            <a:pPr marL="0" indent="0" algn="l">
              <a:buNone/>
            </a:pPr>
            <a:r>
              <a:rPr lang="en-US" sz="1600" i="1" dirty="0">
                <a:solidFill>
                  <a:srgbClr val="C9A84C"/>
                </a:solidFill>
                <a:latin typeface="Calibri" pitchFamily="34" charset="0"/>
                <a:ea typeface="Calibri" pitchFamily="34" charset="-122"/>
                <a:cs typeface="Calibri" pitchFamily="34" charset="-120"/>
              </a:rPr>
              <a:t>Professor of Statistics | CK Tedam University of Technology &amp; Applied Sciences</a:t>
            </a:r>
            <a:endParaRPr lang="en-US" sz="1600" dirty="0"/>
          </a:p>
        </p:txBody>
      </p:sp>
      <p:sp>
        <p:nvSpPr>
          <p:cNvPr id="17" name="Shape 15"/>
          <p:cNvSpPr/>
          <p:nvPr/>
        </p:nvSpPr>
        <p:spPr>
          <a:xfrm>
            <a:off x="3520440" y="1332029"/>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474720"/>
          </a:xfrm>
          <a:prstGeom prst="rect">
            <a:avLst/>
          </a:prstGeom>
          <a:noFill/>
          <a:ln/>
        </p:spPr>
        <p:txBody>
          <a:bodyPr wrap="square" rtlCol="0" anchor="ctr"/>
          <a:lstStyle/>
          <a:p>
            <a:pPr marL="0" indent="0" algn="l">
              <a:buNone/>
            </a:pPr>
            <a:r>
              <a:rPr lang="en-US" sz="2400" dirty="0">
                <a:solidFill>
                  <a:srgbClr val="D0DCE8"/>
                </a:solidFill>
                <a:latin typeface="Calibri" pitchFamily="34" charset="0"/>
                <a:ea typeface="Calibri" pitchFamily="34" charset="-122"/>
                <a:cs typeface="Calibri" pitchFamily="34" charset="-120"/>
              </a:rPr>
              <a:t>BSc Mathematical Science (First Class), UDS (2009); MSc Applied Statistics, UDS (2013); PhD Mathematics (Statistics), Pan African University, Kenya (2018). Head of Department, Statistics &amp; Actuarial Science, CKT-UTAS, Navrongo. H-index: 19 (all time), 16 (last 5 years). Over 105 peer-reviewed publications and 1,167+ citations.</a:t>
            </a:r>
            <a:endParaRPr lang="en-US" sz="2400" dirty="0"/>
          </a:p>
        </p:txBody>
      </p:sp>
      <p:pic>
        <p:nvPicPr>
          <p:cNvPr id="20" name="Picture 19">
            <a:extLst>
              <a:ext uri="{FF2B5EF4-FFF2-40B4-BE49-F238E27FC236}">
                <a16:creationId xmlns:a16="http://schemas.microsoft.com/office/drawing/2014/main" id="{DA2CFA6F-527A-EEB4-7114-E85A11C9D696}"/>
              </a:ext>
            </a:extLst>
          </p:cNvPr>
          <p:cNvPicPr>
            <a:picLocks noChangeAspect="1"/>
          </p:cNvPicPr>
          <p:nvPr/>
        </p:nvPicPr>
        <p:blipFill>
          <a:blip r:embed="rId3"/>
          <a:stretch>
            <a:fillRect/>
          </a:stretch>
        </p:blipFill>
        <p:spPr>
          <a:xfrm>
            <a:off x="274320" y="320040"/>
            <a:ext cx="2743200" cy="267919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Prof. Suleman Nasiru — Contributions &amp; Publications</a:t>
            </a:r>
            <a:endParaRPr lang="en-US" sz="24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77240"/>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0" y="1101851"/>
            <a:ext cx="2183524" cy="45719"/>
          </a:xfrm>
          <a:prstGeom prst="rect">
            <a:avLst/>
          </a:prstGeom>
          <a:solidFill>
            <a:srgbClr val="C9A84C"/>
          </a:solidFill>
          <a:ln w="12700">
            <a:solidFill>
              <a:srgbClr val="C9A84C"/>
            </a:solidFill>
            <a:prstDash val="solid"/>
          </a:ln>
        </p:spPr>
      </p:sp>
      <p:sp>
        <p:nvSpPr>
          <p:cNvPr id="7" name="Text 5"/>
          <p:cNvSpPr/>
          <p:nvPr/>
        </p:nvSpPr>
        <p:spPr>
          <a:xfrm>
            <a:off x="0" y="1152143"/>
            <a:ext cx="4526280" cy="3899917"/>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Statistical Distributions Research</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Prolific developer of novel statistical distribution families used in lifetime data analysis and reliability engineering. Recent work: Log-Cosine-Power Generated Family of Distributions (2025).
</a:t>
            </a:r>
            <a:r>
              <a:rPr lang="en-US" sz="1600" b="1" dirty="0">
                <a:solidFill>
                  <a:srgbClr val="0D1B2A"/>
                </a:solidFill>
                <a:latin typeface="Calibri" pitchFamily="34" charset="0"/>
                <a:ea typeface="Calibri" pitchFamily="34" charset="-122"/>
                <a:cs typeface="Calibri" pitchFamily="34" charset="-120"/>
              </a:rPr>
              <a:t>Time Series &amp; Forecasting</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Applied forecasting methodologies for real-world Ghanaian and African datasets in health, agriculture, and environmental domains.
</a:t>
            </a:r>
            <a:r>
              <a:rPr lang="en-US" sz="1600" b="1" dirty="0">
                <a:solidFill>
                  <a:srgbClr val="0D1B2A"/>
                </a:solidFill>
                <a:latin typeface="Calibri" pitchFamily="34" charset="0"/>
                <a:ea typeface="Calibri" pitchFamily="34" charset="-122"/>
                <a:cs typeface="Calibri" pitchFamily="34" charset="-120"/>
              </a:rPr>
              <a:t>Machine Learning &amp; Disease Classification</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Developing AI-powered disease classification models. Member of Statistics Without Borders and Ghana Statistical Association.</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68096"/>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60" y="1106108"/>
            <a:ext cx="2503564" cy="46035"/>
          </a:xfrm>
          <a:prstGeom prst="rect">
            <a:avLst/>
          </a:prstGeom>
          <a:solidFill>
            <a:srgbClr val="C9A84C"/>
          </a:solidFill>
          <a:ln w="12700">
            <a:solidFill>
              <a:srgbClr val="C9A84C"/>
            </a:solidFill>
            <a:prstDash val="solid"/>
          </a:ln>
        </p:spPr>
      </p:sp>
      <p:sp>
        <p:nvSpPr>
          <p:cNvPr id="11" name="Text 9"/>
          <p:cNvSpPr/>
          <p:nvPr/>
        </p:nvSpPr>
        <p:spPr>
          <a:xfrm>
            <a:off x="4709160" y="1161287"/>
            <a:ext cx="4434840" cy="3890773"/>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Research Metrics:
</a:t>
            </a:r>
            <a:r>
              <a:rPr lang="en-US" sz="1600" i="1" dirty="0">
                <a:solidFill>
                  <a:srgbClr val="333333"/>
                </a:solidFill>
                <a:latin typeface="Calibri" pitchFamily="34" charset="0"/>
                <a:ea typeface="Calibri" pitchFamily="34" charset="-122"/>
                <a:cs typeface="Calibri" pitchFamily="34" charset="-120"/>
              </a:rPr>
              <a:t>105+ publications  ·  1,167+ citations
H-index: 19 (total)  ·  16 (last 5 yrs)
i10-index: 39 (total)  ·  32 (last 5 yrs)
</a:t>
            </a:r>
            <a:r>
              <a:rPr lang="en-US" sz="1600" b="1" dirty="0">
                <a:solidFill>
                  <a:srgbClr val="0D1B2A"/>
                </a:solidFill>
                <a:latin typeface="Calibri" pitchFamily="34" charset="0"/>
                <a:ea typeface="Calibri" pitchFamily="34" charset="-122"/>
                <a:cs typeface="Calibri" pitchFamily="34" charset="-120"/>
              </a:rPr>
              <a:t>Notable Works:
</a:t>
            </a:r>
            <a:r>
              <a:rPr lang="en-US" sz="1600" dirty="0">
                <a:solidFill>
                  <a:srgbClr val="333333"/>
                </a:solidFill>
                <a:latin typeface="Calibri" pitchFamily="34" charset="0"/>
                <a:ea typeface="Calibri" pitchFamily="34" charset="-122"/>
                <a:cs typeface="Calibri" pitchFamily="34" charset="-120"/>
              </a:rPr>
              <a:t>• Nasiru et al. (2025) 'Log-Cosine-Power Generated Family of Distributions'
• Ocloo, Brew, Nasiru &amp; Odoi (2022) 'Harmonic Mixture Frechet Distribution', Int. J. Mathematics &amp; Mathematical Sciences.
</a:t>
            </a:r>
            <a:r>
              <a:rPr lang="en-US" sz="1600" i="1" dirty="0">
                <a:solidFill>
                  <a:srgbClr val="555555"/>
                </a:solidFill>
                <a:latin typeface="Calibri" pitchFamily="34" charset="0"/>
                <a:ea typeface="Calibri" pitchFamily="34" charset="-122"/>
                <a:cs typeface="Calibri" pitchFamily="34" charset="-120"/>
              </a:rPr>
              <a:t>Published in journals on statistical theory, machine learning, and applied sciences.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Ghanaian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Algebraic Topology</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Time Series (ARIMA)</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Applied Stats</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Maths Education</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Assoc. Prof. Lewis Brew</a:t>
            </a:r>
            <a:endParaRPr lang="en-US" sz="3200" dirty="0"/>
          </a:p>
        </p:txBody>
      </p:sp>
      <p:sp>
        <p:nvSpPr>
          <p:cNvPr id="16" name="Text 14"/>
          <p:cNvSpPr/>
          <p:nvPr/>
        </p:nvSpPr>
        <p:spPr>
          <a:xfrm>
            <a:off x="3520440" y="914400"/>
            <a:ext cx="5560498" cy="347472"/>
          </a:xfrm>
          <a:prstGeom prst="rect">
            <a:avLst/>
          </a:prstGeom>
          <a:noFill/>
          <a:ln/>
        </p:spPr>
        <p:txBody>
          <a:bodyPr wrap="square" rtlCol="0" anchor="ctr"/>
          <a:lstStyle/>
          <a:p>
            <a:pPr marL="0" indent="0" algn="l">
              <a:buNone/>
            </a:pPr>
            <a:r>
              <a:rPr lang="en-US" sz="1500" i="1" dirty="0">
                <a:solidFill>
                  <a:srgbClr val="C9A84C"/>
                </a:solidFill>
                <a:latin typeface="Calibri" pitchFamily="34" charset="0"/>
                <a:ea typeface="Calibri" pitchFamily="34" charset="-122"/>
                <a:cs typeface="Calibri" pitchFamily="34" charset="-120"/>
              </a:rPr>
              <a:t>Mathematician | Statistician | University of Mines and Technology</a:t>
            </a:r>
            <a:endParaRPr lang="en-US" sz="15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474720"/>
          </a:xfrm>
          <a:prstGeom prst="rect">
            <a:avLst/>
          </a:prstGeom>
          <a:noFill/>
          <a:ln/>
        </p:spPr>
        <p:txBody>
          <a:bodyPr wrap="square" rtlCol="0" anchor="ctr"/>
          <a:lstStyle/>
          <a:p>
            <a:pPr marL="0" indent="0" algn="l">
              <a:buNone/>
            </a:pPr>
            <a:r>
              <a:rPr lang="en-US" sz="2400" dirty="0">
                <a:solidFill>
                  <a:srgbClr val="D0DCE8"/>
                </a:solidFill>
                <a:latin typeface="Calibri" pitchFamily="34" charset="0"/>
                <a:ea typeface="Calibri" pitchFamily="34" charset="-122"/>
                <a:cs typeface="Calibri" pitchFamily="34" charset="-120"/>
              </a:rPr>
              <a:t>BEd Applied Mathematics, UEW; MSc Pure Mathematics, KNUST; PhD Pure Mathematics, UMaT. Department of Mathematical Sciences, UMaT, Tarkwa. Served as Dean of Faculty of Computing &amp; Mathematical Sciences and Dean of Students. Research bridges pure mathematics and applied statistics with focus on Ghanaian social, economic, and health data.</a:t>
            </a:r>
            <a:endParaRPr lang="en-US" sz="2400" dirty="0"/>
          </a:p>
        </p:txBody>
      </p:sp>
      <p:pic>
        <p:nvPicPr>
          <p:cNvPr id="20" name="Picture 19">
            <a:extLst>
              <a:ext uri="{FF2B5EF4-FFF2-40B4-BE49-F238E27FC236}">
                <a16:creationId xmlns:a16="http://schemas.microsoft.com/office/drawing/2014/main" id="{B486D972-7E9C-8BAB-B555-CDD8C2A70ACF}"/>
              </a:ext>
            </a:extLst>
          </p:cNvPr>
          <p:cNvPicPr>
            <a:picLocks noChangeAspect="1"/>
          </p:cNvPicPr>
          <p:nvPr/>
        </p:nvPicPr>
        <p:blipFill>
          <a:blip r:embed="rId3"/>
          <a:stretch>
            <a:fillRect/>
          </a:stretch>
        </p:blipFill>
        <p:spPr>
          <a:xfrm>
            <a:off x="274320" y="333756"/>
            <a:ext cx="2743200" cy="26654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Assoc. Prof. Lewis Brew — Contributions &amp; Publications</a:t>
            </a:r>
            <a:endParaRPr lang="en-US" sz="24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64628"/>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1" y="1101063"/>
            <a:ext cx="2278117" cy="45719"/>
          </a:xfrm>
          <a:prstGeom prst="rect">
            <a:avLst/>
          </a:prstGeom>
          <a:solidFill>
            <a:srgbClr val="C9A84C"/>
          </a:solidFill>
          <a:ln w="12700">
            <a:solidFill>
              <a:srgbClr val="C9A84C"/>
            </a:solidFill>
            <a:prstDash val="solid"/>
          </a:ln>
        </p:spPr>
      </p:sp>
      <p:sp>
        <p:nvSpPr>
          <p:cNvPr id="7" name="Text 5"/>
          <p:cNvSpPr/>
          <p:nvPr/>
        </p:nvSpPr>
        <p:spPr>
          <a:xfrm>
            <a:off x="0" y="1159394"/>
            <a:ext cx="4526280" cy="3892666"/>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Time Series &amp; Data-Driven Modelling</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Applied Box-Jenkins (ARIMA/ARMA) methodology and regression analysis to Ghanaian transport safety, public health, taxation, and agricultural productivity.
</a:t>
            </a:r>
            <a:r>
              <a:rPr lang="en-US" sz="1600" b="1" dirty="0">
                <a:solidFill>
                  <a:srgbClr val="0D1B2A"/>
                </a:solidFill>
                <a:latin typeface="Calibri" pitchFamily="34" charset="0"/>
                <a:ea typeface="Calibri" pitchFamily="34" charset="-122"/>
                <a:cs typeface="Calibri" pitchFamily="34" charset="-120"/>
              </a:rPr>
              <a:t>Rigorous Analytic Practice</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Embedded AIC/BIC model-selection criteria, Augmented Dickey-Fuller tests, and Ljung-Box diagnostics into applied research in Ghana's academic context.
</a:t>
            </a:r>
            <a:r>
              <a:rPr lang="en-US" sz="1600" b="1" dirty="0">
                <a:solidFill>
                  <a:srgbClr val="0D1B2A"/>
                </a:solidFill>
                <a:latin typeface="Calibri" pitchFamily="34" charset="0"/>
                <a:ea typeface="Calibri" pitchFamily="34" charset="-122"/>
                <a:cs typeface="Calibri" pitchFamily="34" charset="-120"/>
              </a:rPr>
              <a:t>Mathematics Education</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Investigated classroom factors influencing students' mathematical performance at senior high school level.</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61002"/>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59" y="1096333"/>
            <a:ext cx="2574509" cy="45719"/>
          </a:xfrm>
          <a:prstGeom prst="rect">
            <a:avLst/>
          </a:prstGeom>
          <a:solidFill>
            <a:srgbClr val="C9A84C"/>
          </a:solidFill>
          <a:ln w="12700">
            <a:solidFill>
              <a:srgbClr val="C9A84C"/>
            </a:solidFill>
            <a:prstDash val="solid"/>
          </a:ln>
        </p:spPr>
      </p:sp>
      <p:sp>
        <p:nvSpPr>
          <p:cNvPr id="11" name="Text 9"/>
          <p:cNvSpPr/>
          <p:nvPr/>
        </p:nvSpPr>
        <p:spPr>
          <a:xfrm>
            <a:off x="4709159" y="1158290"/>
            <a:ext cx="4434841" cy="3893770"/>
          </a:xfrm>
          <a:prstGeom prst="rect">
            <a:avLst/>
          </a:prstGeom>
          <a:noFill/>
          <a:ln/>
        </p:spPr>
        <p:txBody>
          <a:bodyPr wrap="square"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1. </a:t>
            </a:r>
            <a:r>
              <a:rPr lang="en-US" sz="1400" dirty="0">
                <a:solidFill>
                  <a:srgbClr val="333333"/>
                </a:solidFill>
                <a:latin typeface="Calibri" pitchFamily="34" charset="0"/>
                <a:ea typeface="Calibri" pitchFamily="34" charset="-122"/>
                <a:cs typeface="Calibri" pitchFamily="34" charset="-120"/>
              </a:rPr>
              <a:t>Brew (2011) 'Mathematical activities &amp; classroom factors', British J. Arts &amp; Social Sciences 2(1).
</a:t>
            </a:r>
            <a:r>
              <a:rPr lang="en-US" sz="1400" b="1" dirty="0">
                <a:solidFill>
                  <a:srgbClr val="333333"/>
                </a:solidFill>
                <a:latin typeface="Calibri" pitchFamily="34" charset="0"/>
                <a:ea typeface="Calibri" pitchFamily="34" charset="-122"/>
                <a:cs typeface="Calibri" pitchFamily="34" charset="-120"/>
              </a:rPr>
              <a:t>2. </a:t>
            </a:r>
            <a:r>
              <a:rPr lang="en-US" sz="1400" dirty="0">
                <a:solidFill>
                  <a:srgbClr val="333333"/>
                </a:solidFill>
                <a:latin typeface="Calibri" pitchFamily="34" charset="0"/>
                <a:ea typeface="Calibri" pitchFamily="34" charset="-122"/>
                <a:cs typeface="Calibri" pitchFamily="34" charset="-120"/>
              </a:rPr>
              <a:t>Brew &amp; Wiah (2012) 'Efficiency in VAT collection — Tarkwa-Nsuaem using time series', British J. Arts &amp; Social Sciences 6(2).
</a:t>
            </a:r>
            <a:r>
              <a:rPr lang="en-US" sz="1400" b="1" dirty="0">
                <a:solidFill>
                  <a:srgbClr val="333333"/>
                </a:solidFill>
                <a:latin typeface="Calibri" pitchFamily="34" charset="0"/>
                <a:ea typeface="Calibri" pitchFamily="34" charset="-122"/>
                <a:cs typeface="Calibri" pitchFamily="34" charset="-120"/>
              </a:rPr>
              <a:t>3. </a:t>
            </a:r>
            <a:r>
              <a:rPr lang="en-US" sz="1400" dirty="0">
                <a:solidFill>
                  <a:srgbClr val="333333"/>
                </a:solidFill>
                <a:latin typeface="Calibri" pitchFamily="34" charset="0"/>
                <a:ea typeface="Calibri" pitchFamily="34" charset="-122"/>
                <a:cs typeface="Calibri" pitchFamily="34" charset="-120"/>
              </a:rPr>
              <a:t>Buabeng, Brew, Odoi et al. (2020) 'Effect of climate change on maize production in Ghana', UMaT Biennial Conf.
</a:t>
            </a:r>
            <a:r>
              <a:rPr lang="en-US" sz="1400" b="1" dirty="0">
                <a:solidFill>
                  <a:srgbClr val="333333"/>
                </a:solidFill>
                <a:latin typeface="Calibri" pitchFamily="34" charset="0"/>
                <a:ea typeface="Calibri" pitchFamily="34" charset="-122"/>
                <a:cs typeface="Calibri" pitchFamily="34" charset="-120"/>
              </a:rPr>
              <a:t>4. </a:t>
            </a:r>
            <a:r>
              <a:rPr lang="en-US" sz="1400" dirty="0">
                <a:solidFill>
                  <a:srgbClr val="333333"/>
                </a:solidFill>
                <a:latin typeface="Calibri" pitchFamily="34" charset="0"/>
                <a:ea typeface="Calibri" pitchFamily="34" charset="-122"/>
                <a:cs typeface="Calibri" pitchFamily="34" charset="-120"/>
              </a:rPr>
              <a:t>Twenefour, Ayitey, Kangah &amp; Brew (2021) 'Time series analysis of road traffic accidents in Ghana', Asian J. Prob. &amp; Statistics 11(2).
</a:t>
            </a:r>
            <a:r>
              <a:rPr lang="en-US" sz="1400" b="1" dirty="0">
                <a:solidFill>
                  <a:srgbClr val="333333"/>
                </a:solidFill>
                <a:latin typeface="Calibri" pitchFamily="34" charset="0"/>
                <a:ea typeface="Calibri" pitchFamily="34" charset="-122"/>
                <a:cs typeface="Calibri" pitchFamily="34" charset="-120"/>
              </a:rPr>
              <a:t>5. </a:t>
            </a:r>
            <a:r>
              <a:rPr lang="en-US" sz="1400" dirty="0">
                <a:solidFill>
                  <a:srgbClr val="333333"/>
                </a:solidFill>
                <a:latin typeface="Calibri" pitchFamily="34" charset="0"/>
                <a:ea typeface="Calibri" pitchFamily="34" charset="-122"/>
                <a:cs typeface="Calibri" pitchFamily="34" charset="-120"/>
              </a:rPr>
              <a:t>Ocloo, Brew, Nasiru &amp; Odoi (2022) 'Harmonic Mixture Frechet Distribution', Hindawi.</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Ghanaian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Design of Experiments</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Machine Learning</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Discrete Choice</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Public Health</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Dr. Eric Nyarko</a:t>
            </a:r>
            <a:endParaRPr lang="en-US" sz="3600" dirty="0"/>
          </a:p>
        </p:txBody>
      </p:sp>
      <p:sp>
        <p:nvSpPr>
          <p:cNvPr id="16" name="Text 14"/>
          <p:cNvSpPr/>
          <p:nvPr/>
        </p:nvSpPr>
        <p:spPr>
          <a:xfrm>
            <a:off x="3520440" y="914400"/>
            <a:ext cx="5349240" cy="347472"/>
          </a:xfrm>
          <a:prstGeom prst="rect">
            <a:avLst/>
          </a:prstGeom>
          <a:noFill/>
          <a:ln/>
        </p:spPr>
        <p:txBody>
          <a:bodyPr wrap="square" rtlCol="0" anchor="ctr"/>
          <a:lstStyle/>
          <a:p>
            <a:pPr marL="0" indent="0" algn="l">
              <a:buNone/>
            </a:pPr>
            <a:r>
              <a:rPr lang="en-US" sz="1600" i="1" dirty="0">
                <a:solidFill>
                  <a:srgbClr val="C9A84C"/>
                </a:solidFill>
                <a:latin typeface="Calibri" pitchFamily="34" charset="0"/>
                <a:ea typeface="Calibri" pitchFamily="34" charset="-122"/>
                <a:cs typeface="Calibri" pitchFamily="34" charset="-120"/>
              </a:rPr>
              <a:t>Senior Lecturer in Statistics | University of Ghana</a:t>
            </a:r>
            <a:endParaRPr lang="en-US" sz="16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19"/>
            <a:ext cx="5349240" cy="3667059"/>
          </a:xfrm>
          <a:prstGeom prst="rect">
            <a:avLst/>
          </a:prstGeom>
          <a:noFill/>
          <a:ln/>
        </p:spPr>
        <p:txBody>
          <a:bodyPr wrap="square" rtlCol="0" anchor="ctr"/>
          <a:lstStyle/>
          <a:p>
            <a:pPr marL="0" indent="0" algn="l">
              <a:buNone/>
            </a:pPr>
            <a:r>
              <a:rPr lang="en-US" sz="2400" dirty="0">
                <a:solidFill>
                  <a:srgbClr val="D0DCE8"/>
                </a:solidFill>
                <a:latin typeface="Calibri" pitchFamily="34" charset="0"/>
                <a:ea typeface="Calibri" pitchFamily="34" charset="-122"/>
                <a:cs typeface="Calibri" pitchFamily="34" charset="-120"/>
              </a:rPr>
              <a:t>BSc Statistics, University for Development Studies; MPhil Statistics, University of Ghana; PhD Statistics, University of Magdeburg, Germany. Senior Lecturer, Department of Statistics &amp; Actuarial Science, University of Ghana. Applies statistical design, machine learning, and discrete choice methods to public health, infectious diseases, nutrition, and snakebite prevention</a:t>
            </a:r>
            <a:r>
              <a:rPr lang="en-US" sz="1200" dirty="0">
                <a:solidFill>
                  <a:srgbClr val="D0DCE8"/>
                </a:solidFill>
                <a:latin typeface="Calibri" pitchFamily="34" charset="0"/>
                <a:ea typeface="Calibri" pitchFamily="34" charset="-122"/>
                <a:cs typeface="Calibri" pitchFamily="34" charset="-120"/>
              </a:rPr>
              <a:t>.</a:t>
            </a:r>
            <a:endParaRPr lang="en-US" sz="1200" dirty="0"/>
          </a:p>
        </p:txBody>
      </p:sp>
      <p:pic>
        <p:nvPicPr>
          <p:cNvPr id="20" name="Picture 19">
            <a:extLst>
              <a:ext uri="{FF2B5EF4-FFF2-40B4-BE49-F238E27FC236}">
                <a16:creationId xmlns:a16="http://schemas.microsoft.com/office/drawing/2014/main" id="{8D56DC83-9879-441A-2F25-51675FE97FF9}"/>
              </a:ext>
            </a:extLst>
          </p:cNvPr>
          <p:cNvPicPr>
            <a:picLocks noChangeAspect="1"/>
          </p:cNvPicPr>
          <p:nvPr/>
        </p:nvPicPr>
        <p:blipFill>
          <a:blip r:embed="rId3"/>
          <a:stretch>
            <a:fillRect/>
          </a:stretch>
        </p:blipFill>
        <p:spPr>
          <a:xfrm>
            <a:off x="274321" y="320040"/>
            <a:ext cx="2743200" cy="26517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Dr. Eric Nyarko — Contributions &amp; Publications</a:t>
            </a:r>
            <a:endParaRPr lang="en-US" sz="2800" dirty="0"/>
          </a:p>
        </p:txBody>
      </p:sp>
      <p:sp>
        <p:nvSpPr>
          <p:cNvPr id="4" name="Shape 2"/>
          <p:cNvSpPr/>
          <p:nvPr/>
        </p:nvSpPr>
        <p:spPr>
          <a:xfrm>
            <a:off x="0" y="777240"/>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14189" y="768096"/>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1" y="1090657"/>
            <a:ext cx="2356945" cy="45719"/>
          </a:xfrm>
          <a:prstGeom prst="rect">
            <a:avLst/>
          </a:prstGeom>
          <a:solidFill>
            <a:srgbClr val="C9A84C"/>
          </a:solidFill>
          <a:ln w="12700">
            <a:solidFill>
              <a:srgbClr val="C9A84C"/>
            </a:solidFill>
            <a:prstDash val="solid"/>
          </a:ln>
        </p:spPr>
      </p:sp>
      <p:sp>
        <p:nvSpPr>
          <p:cNvPr id="7" name="Text 5"/>
          <p:cNvSpPr/>
          <p:nvPr/>
        </p:nvSpPr>
        <p:spPr>
          <a:xfrm>
            <a:off x="-14189" y="1143000"/>
            <a:ext cx="4526280" cy="3909060"/>
          </a:xfrm>
          <a:prstGeom prst="rect">
            <a:avLst/>
          </a:prstGeom>
          <a:noFill/>
          <a:ln/>
        </p:spPr>
        <p:txBody>
          <a:bodyPr wrap="square" rtlCol="0" anchor="ctr"/>
          <a:lstStyle/>
          <a:p>
            <a:pPr marL="0" indent="0" algn="l">
              <a:buNone/>
            </a:pPr>
            <a:r>
              <a:rPr lang="en-US" sz="1600" b="1" dirty="0">
                <a:solidFill>
                  <a:srgbClr val="0D1B2A"/>
                </a:solidFill>
                <a:latin typeface="Calibri" pitchFamily="34" charset="0"/>
                <a:ea typeface="Calibri" pitchFamily="34" charset="-122"/>
                <a:cs typeface="Calibri" pitchFamily="34" charset="-120"/>
              </a:rPr>
              <a:t>Optimal Experimental Design</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Develops optimal designs for paired comparison and conjoint analysis experiments — particularly for 2nd and 3rd order interactions with binary attributes.
</a:t>
            </a:r>
            <a:r>
              <a:rPr lang="en-US" sz="1600" b="1" dirty="0">
                <a:solidFill>
                  <a:srgbClr val="0D1B2A"/>
                </a:solidFill>
                <a:latin typeface="Calibri" pitchFamily="34" charset="0"/>
                <a:ea typeface="Calibri" pitchFamily="34" charset="-122"/>
                <a:cs typeface="Calibri" pitchFamily="34" charset="-120"/>
              </a:rPr>
              <a:t>Public Health &amp; Disease Modelling</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Applies statistical &amp; ML methods to antimicrobial resistance, COVID-19 impacts on higher education, snakebite prevention, maternal/child health, and nutrition policy.
</a:t>
            </a:r>
            <a:r>
              <a:rPr lang="en-US" sz="1600" b="1" dirty="0">
                <a:solidFill>
                  <a:srgbClr val="0D1B2A"/>
                </a:solidFill>
                <a:latin typeface="Calibri" pitchFamily="34" charset="0"/>
                <a:ea typeface="Calibri" pitchFamily="34" charset="-122"/>
                <a:cs typeface="Calibri" pitchFamily="34" charset="-120"/>
              </a:rPr>
              <a:t>Class Imbalance in Health Data</a:t>
            </a:r>
            <a:endParaRPr lang="en-US" sz="1600" dirty="0"/>
          </a:p>
          <a:p>
            <a:pPr marL="0" indent="0" algn="l">
              <a:buNone/>
            </a:pPr>
            <a:r>
              <a:rPr lang="en-US" sz="1600" dirty="0">
                <a:solidFill>
                  <a:srgbClr val="333333"/>
                </a:solidFill>
                <a:latin typeface="Calibri" pitchFamily="34" charset="0"/>
                <a:ea typeface="Calibri" pitchFamily="34" charset="-122"/>
                <a:cs typeface="Calibri" pitchFamily="34" charset="-120"/>
              </a:rPr>
              <a:t>Recent work (2025) on oversampling approaches to address class imbalance in health data classification — practical impact on diagnostic accuracy.</a:t>
            </a:r>
            <a:endParaRPr lang="en-US" sz="16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09160" y="777240"/>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60" y="1097280"/>
            <a:ext cx="2669102" cy="45720"/>
          </a:xfrm>
          <a:prstGeom prst="rect">
            <a:avLst/>
          </a:prstGeom>
          <a:solidFill>
            <a:srgbClr val="C9A84C"/>
          </a:solidFill>
          <a:ln w="12700">
            <a:solidFill>
              <a:srgbClr val="C9A84C"/>
            </a:solidFill>
            <a:prstDash val="solid"/>
          </a:ln>
        </p:spPr>
      </p:sp>
      <p:sp>
        <p:nvSpPr>
          <p:cNvPr id="11" name="Text 9"/>
          <p:cNvSpPr/>
          <p:nvPr/>
        </p:nvSpPr>
        <p:spPr>
          <a:xfrm>
            <a:off x="4694971" y="1143000"/>
            <a:ext cx="4449029" cy="3909060"/>
          </a:xfrm>
          <a:prstGeom prst="rect">
            <a:avLst/>
          </a:prstGeom>
          <a:noFill/>
          <a:ln/>
        </p:spPr>
        <p:txBody>
          <a:bodyPr wrap="square"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1. </a:t>
            </a:r>
            <a:r>
              <a:rPr lang="en-US" sz="1400" dirty="0">
                <a:solidFill>
                  <a:srgbClr val="333333"/>
                </a:solidFill>
                <a:latin typeface="Calibri" pitchFamily="34" charset="0"/>
                <a:ea typeface="Calibri" pitchFamily="34" charset="-122"/>
                <a:cs typeface="Calibri" pitchFamily="34" charset="-120"/>
              </a:rPr>
              <a:t>Nyarko &amp; Schwabe (2019) 'Optimal designs for second-order interactions in paired comparison experiments', J. Statistical Theory &amp; Practice 13(4).
</a:t>
            </a:r>
            <a:r>
              <a:rPr lang="en-US" sz="1400" b="1" dirty="0">
                <a:solidFill>
                  <a:srgbClr val="333333"/>
                </a:solidFill>
                <a:latin typeface="Calibri" pitchFamily="34" charset="0"/>
                <a:ea typeface="Calibri" pitchFamily="34" charset="-122"/>
                <a:cs typeface="Calibri" pitchFamily="34" charset="-120"/>
              </a:rPr>
              <a:t>2. </a:t>
            </a:r>
            <a:r>
              <a:rPr lang="en-US" sz="1400" dirty="0">
                <a:solidFill>
                  <a:srgbClr val="333333"/>
                </a:solidFill>
                <a:latin typeface="Calibri" pitchFamily="34" charset="0"/>
                <a:ea typeface="Calibri" pitchFamily="34" charset="-122"/>
                <a:cs typeface="Calibri" pitchFamily="34" charset="-120"/>
              </a:rPr>
              <a:t>Nyarko (2019) 'Optimal paired comparison experiments for second-order interactions', arXiv:1908.06090.
</a:t>
            </a:r>
            <a:r>
              <a:rPr lang="en-US" sz="1400" b="1" dirty="0">
                <a:solidFill>
                  <a:srgbClr val="333333"/>
                </a:solidFill>
                <a:latin typeface="Calibri" pitchFamily="34" charset="0"/>
                <a:ea typeface="Calibri" pitchFamily="34" charset="-122"/>
                <a:cs typeface="Calibri" pitchFamily="34" charset="-120"/>
              </a:rPr>
              <a:t>3. </a:t>
            </a:r>
            <a:r>
              <a:rPr lang="en-US" sz="1400" dirty="0">
                <a:solidFill>
                  <a:srgbClr val="333333"/>
                </a:solidFill>
                <a:latin typeface="Calibri" pitchFamily="34" charset="0"/>
                <a:ea typeface="Calibri" pitchFamily="34" charset="-122"/>
                <a:cs typeface="Calibri" pitchFamily="34" charset="-120"/>
              </a:rPr>
              <a:t>Nyarko &amp; Doku-Amponsah (2022) 'Approximate and exact optimal designs for paired comparison', Calcutta Statistical Association Bulletin 74(1).
</a:t>
            </a:r>
            <a:r>
              <a:rPr lang="en-US" sz="1400" b="1" dirty="0">
                <a:solidFill>
                  <a:srgbClr val="333333"/>
                </a:solidFill>
                <a:latin typeface="Calibri" pitchFamily="34" charset="0"/>
                <a:ea typeface="Calibri" pitchFamily="34" charset="-122"/>
                <a:cs typeface="Calibri" pitchFamily="34" charset="-120"/>
              </a:rPr>
              <a:t>4. </a:t>
            </a:r>
            <a:r>
              <a:rPr lang="en-US" sz="1400" dirty="0">
                <a:solidFill>
                  <a:srgbClr val="333333"/>
                </a:solidFill>
                <a:latin typeface="Calibri" pitchFamily="34" charset="0"/>
                <a:ea typeface="Calibri" pitchFamily="34" charset="-122"/>
                <a:cs typeface="Calibri" pitchFamily="34" charset="-120"/>
              </a:rPr>
              <a:t>Nyarko, Agyemang &amp; Arku (2023) 'COVID-19 and online teaching: A discrete choice experiment', Model Assisted Statistics &amp; Applications 18(2).
</a:t>
            </a:r>
            <a:r>
              <a:rPr lang="en-US" sz="1400" b="1" dirty="0">
                <a:solidFill>
                  <a:srgbClr val="333333"/>
                </a:solidFill>
                <a:latin typeface="Calibri" pitchFamily="34" charset="0"/>
                <a:ea typeface="Calibri" pitchFamily="34" charset="-122"/>
                <a:cs typeface="Calibri" pitchFamily="34" charset="-120"/>
              </a:rPr>
              <a:t>5. </a:t>
            </a:r>
            <a:r>
              <a:rPr lang="en-US" sz="1400" dirty="0">
                <a:solidFill>
                  <a:srgbClr val="333333"/>
                </a:solidFill>
                <a:latin typeface="Calibri" pitchFamily="34" charset="0"/>
                <a:ea typeface="Calibri" pitchFamily="34" charset="-122"/>
                <a:cs typeface="Calibri" pitchFamily="34" charset="-120"/>
              </a:rPr>
              <a:t>Agyemang, Mensah, Nyarko et al. (2025) 'Addressing class imbalance in health data classification', Applied Computational Intelligence &amp; Soft Computing.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B3A5C"/>
          </a:solidFill>
          <a:ln w="12700">
            <a:solidFill>
              <a:srgbClr val="1B3A5C"/>
            </a:solidFill>
            <a:prstDash val="solid"/>
          </a:ln>
        </p:spPr>
      </p:sp>
      <p:sp>
        <p:nvSpPr>
          <p:cNvPr id="3" name="Shape 1"/>
          <p:cNvSpPr/>
          <p:nvPr/>
        </p:nvSpPr>
        <p:spPr>
          <a:xfrm>
            <a:off x="274320" y="320040"/>
            <a:ext cx="2743200" cy="2651760"/>
          </a:xfrm>
          <a:prstGeom prst="roundRect">
            <a:avLst>
              <a:gd name="adj" fmla="val 3448"/>
            </a:avLst>
          </a:prstGeom>
          <a:solidFill>
            <a:srgbClr val="0D1B2A"/>
          </a:solidFill>
          <a:ln w="19050">
            <a:solidFill>
              <a:srgbClr val="C9A84C"/>
            </a:solidFill>
            <a:prstDash val="solid"/>
          </a:ln>
        </p:spPr>
      </p:sp>
      <p:sp>
        <p:nvSpPr>
          <p:cNvPr id="4" name="Text 2"/>
          <p:cNvSpPr/>
          <p:nvPr/>
        </p:nvSpPr>
        <p:spPr>
          <a:xfrm>
            <a:off x="274320" y="320040"/>
            <a:ext cx="2743200" cy="2651760"/>
          </a:xfrm>
          <a:prstGeom prst="rect">
            <a:avLst/>
          </a:prstGeom>
          <a:noFill/>
          <a:ln/>
        </p:spPr>
        <p:txBody>
          <a:bodyPr wrap="square" rtlCol="0" anchor="ctr"/>
          <a:lstStyle/>
          <a:p>
            <a:pPr marL="0" indent="0" algn="ctr">
              <a:buNone/>
            </a:pPr>
            <a:r>
              <a:rPr lang="en-US" sz="1400" dirty="0">
                <a:solidFill>
                  <a:srgbClr val="8FA4BA"/>
                </a:solidFill>
                <a:latin typeface="Calibri" pitchFamily="34" charset="0"/>
                <a:ea typeface="Calibri" pitchFamily="34" charset="-122"/>
                <a:cs typeface="Calibri" pitchFamily="34" charset="-120"/>
              </a:rPr>
              <a:t>📷</a:t>
            </a:r>
            <a:endParaRPr lang="en-US" sz="1400" dirty="0"/>
          </a:p>
          <a:p>
            <a:pPr marL="0" indent="0" algn="ctr">
              <a:buNone/>
            </a:pPr>
            <a:r>
              <a:rPr lang="en-US" sz="1400" dirty="0">
                <a:solidFill>
                  <a:srgbClr val="8FA4BA"/>
                </a:solidFill>
                <a:latin typeface="Calibri" pitchFamily="34" charset="0"/>
                <a:ea typeface="Calibri" pitchFamily="34" charset="-122"/>
                <a:cs typeface="Calibri" pitchFamily="34" charset="-120"/>
              </a:rPr>
              <a:t>Insert Photo</a:t>
            </a:r>
            <a:endParaRPr lang="en-US" sz="1400" dirty="0"/>
          </a:p>
        </p:txBody>
      </p:sp>
      <p:sp>
        <p:nvSpPr>
          <p:cNvPr id="5" name="Shape 3"/>
          <p:cNvSpPr/>
          <p:nvPr/>
        </p:nvSpPr>
        <p:spPr>
          <a:xfrm>
            <a:off x="274320" y="3108960"/>
            <a:ext cx="2743200" cy="347472"/>
          </a:xfrm>
          <a:prstGeom prst="roundRect">
            <a:avLst>
              <a:gd name="adj" fmla="val 15789"/>
            </a:avLst>
          </a:prstGeom>
          <a:solidFill>
            <a:srgbClr val="C9A84C"/>
          </a:solidFill>
          <a:ln w="12700">
            <a:solidFill>
              <a:srgbClr val="C9A84C"/>
            </a:solidFill>
            <a:prstDash val="solid"/>
          </a:ln>
        </p:spPr>
      </p:sp>
      <p:sp>
        <p:nvSpPr>
          <p:cNvPr id="6" name="Text 4"/>
          <p:cNvSpPr/>
          <p:nvPr/>
        </p:nvSpPr>
        <p:spPr>
          <a:xfrm>
            <a:off x="274320" y="3108960"/>
            <a:ext cx="2743200" cy="347472"/>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 Ghanaian</a:t>
            </a:r>
            <a:endParaRPr lang="en-US" sz="1200" dirty="0"/>
          </a:p>
        </p:txBody>
      </p:sp>
      <p:sp>
        <p:nvSpPr>
          <p:cNvPr id="7" name="Shape 5"/>
          <p:cNvSpPr/>
          <p:nvPr/>
        </p:nvSpPr>
        <p:spPr>
          <a:xfrm>
            <a:off x="274320" y="3611880"/>
            <a:ext cx="1298448" cy="347472"/>
          </a:xfrm>
          <a:prstGeom prst="roundRect">
            <a:avLst>
              <a:gd name="adj" fmla="val 15789"/>
            </a:avLst>
          </a:prstGeom>
          <a:solidFill>
            <a:srgbClr val="162130"/>
          </a:solidFill>
          <a:ln w="6350">
            <a:solidFill>
              <a:srgbClr val="8FA4BA"/>
            </a:solidFill>
            <a:prstDash val="solid"/>
          </a:ln>
        </p:spPr>
      </p:sp>
      <p:sp>
        <p:nvSpPr>
          <p:cNvPr id="8" name="Text 6"/>
          <p:cNvSpPr/>
          <p:nvPr/>
        </p:nvSpPr>
        <p:spPr>
          <a:xfrm>
            <a:off x="274320"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Big Data Analytics</a:t>
            </a:r>
            <a:endParaRPr lang="en-US" sz="950" dirty="0"/>
          </a:p>
        </p:txBody>
      </p:sp>
      <p:sp>
        <p:nvSpPr>
          <p:cNvPr id="9" name="Shape 7"/>
          <p:cNvSpPr/>
          <p:nvPr/>
        </p:nvSpPr>
        <p:spPr>
          <a:xfrm>
            <a:off x="1664208" y="3611880"/>
            <a:ext cx="1298448" cy="347472"/>
          </a:xfrm>
          <a:prstGeom prst="roundRect">
            <a:avLst>
              <a:gd name="adj" fmla="val 15789"/>
            </a:avLst>
          </a:prstGeom>
          <a:solidFill>
            <a:srgbClr val="162130"/>
          </a:solidFill>
          <a:ln w="6350">
            <a:solidFill>
              <a:srgbClr val="8FA4BA"/>
            </a:solidFill>
            <a:prstDash val="solid"/>
          </a:ln>
        </p:spPr>
      </p:sp>
      <p:sp>
        <p:nvSpPr>
          <p:cNvPr id="10" name="Text 8"/>
          <p:cNvSpPr/>
          <p:nvPr/>
        </p:nvSpPr>
        <p:spPr>
          <a:xfrm>
            <a:off x="1664208" y="36118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Climate Modelling</a:t>
            </a:r>
            <a:endParaRPr lang="en-US" sz="950" dirty="0"/>
          </a:p>
        </p:txBody>
      </p:sp>
      <p:sp>
        <p:nvSpPr>
          <p:cNvPr id="11" name="Shape 9"/>
          <p:cNvSpPr/>
          <p:nvPr/>
        </p:nvSpPr>
        <p:spPr>
          <a:xfrm>
            <a:off x="274320" y="4069080"/>
            <a:ext cx="1298448" cy="347472"/>
          </a:xfrm>
          <a:prstGeom prst="roundRect">
            <a:avLst>
              <a:gd name="adj" fmla="val 15789"/>
            </a:avLst>
          </a:prstGeom>
          <a:solidFill>
            <a:srgbClr val="162130"/>
          </a:solidFill>
          <a:ln w="6350">
            <a:solidFill>
              <a:srgbClr val="8FA4BA"/>
            </a:solidFill>
            <a:prstDash val="solid"/>
          </a:ln>
        </p:spPr>
      </p:sp>
      <p:sp>
        <p:nvSpPr>
          <p:cNvPr id="12" name="Text 10"/>
          <p:cNvSpPr/>
          <p:nvPr/>
        </p:nvSpPr>
        <p:spPr>
          <a:xfrm>
            <a:off x="274320"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Financial Stats</a:t>
            </a:r>
            <a:endParaRPr lang="en-US" sz="950" dirty="0"/>
          </a:p>
        </p:txBody>
      </p:sp>
      <p:sp>
        <p:nvSpPr>
          <p:cNvPr id="13" name="Shape 11"/>
          <p:cNvSpPr/>
          <p:nvPr/>
        </p:nvSpPr>
        <p:spPr>
          <a:xfrm>
            <a:off x="1664208" y="4069080"/>
            <a:ext cx="1298448" cy="347472"/>
          </a:xfrm>
          <a:prstGeom prst="roundRect">
            <a:avLst>
              <a:gd name="adj" fmla="val 15789"/>
            </a:avLst>
          </a:prstGeom>
          <a:solidFill>
            <a:srgbClr val="162130"/>
          </a:solidFill>
          <a:ln w="6350">
            <a:solidFill>
              <a:srgbClr val="8FA4BA"/>
            </a:solidFill>
            <a:prstDash val="solid"/>
          </a:ln>
        </p:spPr>
      </p:sp>
      <p:sp>
        <p:nvSpPr>
          <p:cNvPr id="14" name="Text 12"/>
          <p:cNvSpPr/>
          <p:nvPr/>
        </p:nvSpPr>
        <p:spPr>
          <a:xfrm>
            <a:off x="1664208" y="4069080"/>
            <a:ext cx="1298448" cy="347472"/>
          </a:xfrm>
          <a:prstGeom prst="rect">
            <a:avLst/>
          </a:prstGeom>
          <a:noFill/>
          <a:ln/>
        </p:spPr>
        <p:txBody>
          <a:bodyPr wrap="square" rtlCol="0" anchor="ctr"/>
          <a:lstStyle/>
          <a:p>
            <a:pPr marL="0" indent="0" algn="ctr">
              <a:buNone/>
            </a:pPr>
            <a:r>
              <a:rPr lang="en-US" sz="950" dirty="0">
                <a:solidFill>
                  <a:srgbClr val="E8C97A"/>
                </a:solidFill>
                <a:latin typeface="Calibri" pitchFamily="34" charset="0"/>
                <a:ea typeface="Calibri" pitchFamily="34" charset="-122"/>
                <a:cs typeface="Calibri" pitchFamily="34" charset="-120"/>
              </a:rPr>
              <a:t>Biostatistics</a:t>
            </a:r>
            <a:endParaRPr lang="en-US" sz="950" dirty="0"/>
          </a:p>
        </p:txBody>
      </p:sp>
      <p:sp>
        <p:nvSpPr>
          <p:cNvPr id="15" name="Text 13"/>
          <p:cNvSpPr/>
          <p:nvPr/>
        </p:nvSpPr>
        <p:spPr>
          <a:xfrm>
            <a:off x="3520440" y="274320"/>
            <a:ext cx="5349240" cy="68580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Dr. Benjamin Odoi</a:t>
            </a:r>
            <a:endParaRPr lang="en-US" sz="3600" dirty="0"/>
          </a:p>
        </p:txBody>
      </p:sp>
      <p:sp>
        <p:nvSpPr>
          <p:cNvPr id="16" name="Text 14"/>
          <p:cNvSpPr/>
          <p:nvPr/>
        </p:nvSpPr>
        <p:spPr>
          <a:xfrm>
            <a:off x="3520440" y="914400"/>
            <a:ext cx="5544732" cy="347472"/>
          </a:xfrm>
          <a:prstGeom prst="rect">
            <a:avLst/>
          </a:prstGeom>
          <a:noFill/>
          <a:ln/>
        </p:spPr>
        <p:txBody>
          <a:bodyPr wrap="square" rtlCol="0" anchor="ctr"/>
          <a:lstStyle/>
          <a:p>
            <a:pPr marL="0" indent="0" algn="l">
              <a:buNone/>
            </a:pPr>
            <a:r>
              <a:rPr lang="en-US" sz="1500" i="1" dirty="0">
                <a:solidFill>
                  <a:srgbClr val="C9A84C"/>
                </a:solidFill>
                <a:latin typeface="Calibri" pitchFamily="34" charset="0"/>
                <a:ea typeface="Calibri" pitchFamily="34" charset="-122"/>
                <a:cs typeface="Calibri" pitchFamily="34" charset="-120"/>
              </a:rPr>
              <a:t>Statistician | Big Data Analyst | University of Mines and Technology</a:t>
            </a:r>
            <a:endParaRPr lang="en-US" sz="1500" dirty="0"/>
          </a:p>
        </p:txBody>
      </p:sp>
      <p:sp>
        <p:nvSpPr>
          <p:cNvPr id="17" name="Shape 15"/>
          <p:cNvSpPr/>
          <p:nvPr/>
        </p:nvSpPr>
        <p:spPr>
          <a:xfrm>
            <a:off x="3520440" y="1298448"/>
            <a:ext cx="5212080" cy="36576"/>
          </a:xfrm>
          <a:prstGeom prst="rect">
            <a:avLst/>
          </a:prstGeom>
          <a:solidFill>
            <a:srgbClr val="C9A84C"/>
          </a:solidFill>
          <a:ln w="12700">
            <a:solidFill>
              <a:srgbClr val="C9A84C"/>
            </a:solidFill>
            <a:prstDash val="solid"/>
          </a:ln>
        </p:spPr>
      </p:sp>
      <p:sp>
        <p:nvSpPr>
          <p:cNvPr id="18" name="Text 16"/>
          <p:cNvSpPr/>
          <p:nvPr/>
        </p:nvSpPr>
        <p:spPr>
          <a:xfrm>
            <a:off x="3520440" y="1417320"/>
            <a:ext cx="5349240" cy="3622600"/>
          </a:xfrm>
          <a:prstGeom prst="rect">
            <a:avLst/>
          </a:prstGeom>
          <a:noFill/>
          <a:ln/>
        </p:spPr>
        <p:txBody>
          <a:bodyPr wrap="square" rtlCol="0" anchor="ctr"/>
          <a:lstStyle/>
          <a:p>
            <a:pPr marL="0" indent="0" algn="l">
              <a:buNone/>
            </a:pPr>
            <a:r>
              <a:rPr lang="en-US" sz="2400" dirty="0">
                <a:solidFill>
                  <a:srgbClr val="D0DCE8"/>
                </a:solidFill>
                <a:latin typeface="Calibri" pitchFamily="34" charset="0"/>
                <a:ea typeface="Calibri" pitchFamily="34" charset="-122"/>
                <a:cs typeface="Calibri" pitchFamily="34" charset="-120"/>
              </a:rPr>
              <a:t>BSc Mathematics; MSc Applied Statistics; MPhil Statistics; PhD Statistics. Certifications in Advanced Data Science, Big Data Analytics, and Mining Engineering. Lecturer, Department of Mathematical Sciences, UMaT, Tarkwa. Over 25 peer-reviewed publications and 100+ citations. Presented at LISA Global Symposium 2025 and ISI-IASC Webinar on data science storytelling.</a:t>
            </a:r>
            <a:endParaRPr lang="en-US" sz="2400" dirty="0"/>
          </a:p>
        </p:txBody>
      </p:sp>
      <p:pic>
        <p:nvPicPr>
          <p:cNvPr id="22" name="Picture 21">
            <a:extLst>
              <a:ext uri="{FF2B5EF4-FFF2-40B4-BE49-F238E27FC236}">
                <a16:creationId xmlns:a16="http://schemas.microsoft.com/office/drawing/2014/main" id="{8C731315-AD27-F5B7-37FA-92D455730983}"/>
              </a:ext>
            </a:extLst>
          </p:cNvPr>
          <p:cNvPicPr>
            <a:picLocks noChangeAspect="1"/>
          </p:cNvPicPr>
          <p:nvPr/>
        </p:nvPicPr>
        <p:blipFill>
          <a:blip r:embed="rId3"/>
          <a:stretch>
            <a:fillRect/>
          </a:stretch>
        </p:blipFill>
        <p:spPr>
          <a:xfrm>
            <a:off x="274320" y="320041"/>
            <a:ext cx="2743200" cy="26517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w="12700">
            <a:solidFill>
              <a:srgbClr val="0D1B2A"/>
            </a:solidFill>
            <a:prstDash val="solid"/>
          </a:ln>
        </p:spPr>
      </p:sp>
      <p:sp>
        <p:nvSpPr>
          <p:cNvPr id="3" name="Text 1"/>
          <p:cNvSpPr/>
          <p:nvPr/>
        </p:nvSpPr>
        <p:spPr>
          <a:xfrm>
            <a:off x="365760" y="91440"/>
            <a:ext cx="8412480" cy="59436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Dr. Benjamin Odoi — Contributions &amp; Publications</a:t>
            </a:r>
            <a:endParaRPr lang="en-US" sz="2400" dirty="0"/>
          </a:p>
        </p:txBody>
      </p:sp>
      <p:sp>
        <p:nvSpPr>
          <p:cNvPr id="4" name="Shape 2"/>
          <p:cNvSpPr/>
          <p:nvPr/>
        </p:nvSpPr>
        <p:spPr>
          <a:xfrm>
            <a:off x="0" y="786384"/>
            <a:ext cx="452628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5" name="Text 3"/>
          <p:cNvSpPr/>
          <p:nvPr/>
        </p:nvSpPr>
        <p:spPr>
          <a:xfrm>
            <a:off x="0" y="777240"/>
            <a:ext cx="393192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Key Contributions</a:t>
            </a:r>
            <a:endParaRPr lang="en-US" dirty="0"/>
          </a:p>
        </p:txBody>
      </p:sp>
      <p:sp>
        <p:nvSpPr>
          <p:cNvPr id="6" name="Shape 4"/>
          <p:cNvSpPr/>
          <p:nvPr/>
        </p:nvSpPr>
        <p:spPr>
          <a:xfrm>
            <a:off x="0" y="1088135"/>
            <a:ext cx="2222938" cy="45719"/>
          </a:xfrm>
          <a:prstGeom prst="rect">
            <a:avLst/>
          </a:prstGeom>
          <a:solidFill>
            <a:srgbClr val="C9A84C"/>
          </a:solidFill>
          <a:ln w="12700">
            <a:solidFill>
              <a:srgbClr val="C9A84C"/>
            </a:solidFill>
            <a:prstDash val="solid"/>
          </a:ln>
        </p:spPr>
      </p:sp>
      <p:sp>
        <p:nvSpPr>
          <p:cNvPr id="7" name="Text 5"/>
          <p:cNvSpPr/>
          <p:nvPr/>
        </p:nvSpPr>
        <p:spPr>
          <a:xfrm>
            <a:off x="0" y="1152144"/>
            <a:ext cx="4526280" cy="3909060"/>
          </a:xfrm>
          <a:prstGeom prst="rect">
            <a:avLst/>
          </a:prstGeom>
          <a:noFill/>
          <a:ln/>
        </p:spPr>
        <p:txBody>
          <a:bodyPr wrap="square" rtlCol="0" anchor="ctr"/>
          <a:lstStyle/>
          <a:p>
            <a:pPr marL="0" indent="0" algn="l">
              <a:buNone/>
            </a:pPr>
            <a:r>
              <a:rPr lang="en-US" sz="1500" b="1" dirty="0">
                <a:solidFill>
                  <a:srgbClr val="0D1B2A"/>
                </a:solidFill>
                <a:latin typeface="Calibri" pitchFamily="34" charset="0"/>
                <a:ea typeface="Calibri" pitchFamily="34" charset="-122"/>
                <a:cs typeface="Calibri" pitchFamily="34" charset="-120"/>
              </a:rPr>
              <a:t>Big Data Analytics &amp; Statistical Computing</a:t>
            </a:r>
            <a:endParaRPr lang="en-US" sz="1500" dirty="0"/>
          </a:p>
          <a:p>
            <a:pPr marL="0" indent="0" algn="l">
              <a:buNone/>
            </a:pPr>
            <a:r>
              <a:rPr lang="en-US" sz="1500" dirty="0">
                <a:solidFill>
                  <a:srgbClr val="333333"/>
                </a:solidFill>
                <a:latin typeface="Calibri" pitchFamily="34" charset="0"/>
                <a:ea typeface="Calibri" pitchFamily="34" charset="-122"/>
                <a:cs typeface="Calibri" pitchFamily="34" charset="-120"/>
              </a:rPr>
              <a:t>Focuses on building statistical capacity among African students and researchers, positioning statistical computing as the bridge between statistics and computer science.
</a:t>
            </a:r>
            <a:r>
              <a:rPr lang="en-US" sz="1500" b="1" dirty="0">
                <a:solidFill>
                  <a:srgbClr val="0D1B2A"/>
                </a:solidFill>
                <a:latin typeface="Calibri" pitchFamily="34" charset="0"/>
                <a:ea typeface="Calibri" pitchFamily="34" charset="-122"/>
                <a:cs typeface="Calibri" pitchFamily="34" charset="-120"/>
              </a:rPr>
              <a:t>Climate &amp; Environmental Modelling</a:t>
            </a:r>
            <a:endParaRPr lang="en-US" sz="1500" dirty="0"/>
          </a:p>
          <a:p>
            <a:pPr marL="0" indent="0" algn="l">
              <a:buNone/>
            </a:pPr>
            <a:r>
              <a:rPr lang="en-US" sz="1500" dirty="0">
                <a:solidFill>
                  <a:srgbClr val="333333"/>
                </a:solidFill>
                <a:latin typeface="Calibri" pitchFamily="34" charset="0"/>
                <a:ea typeface="Calibri" pitchFamily="34" charset="-122"/>
                <a:cs typeface="Calibri" pitchFamily="34" charset="-120"/>
              </a:rPr>
              <a:t>Studied effects of climate change on Ghana's agriculture; used PCA and time series to predict nitrous oxide emissions.
</a:t>
            </a:r>
            <a:r>
              <a:rPr lang="en-US" sz="1500" b="1" dirty="0">
                <a:solidFill>
                  <a:srgbClr val="0D1B2A"/>
                </a:solidFill>
                <a:latin typeface="Calibri" pitchFamily="34" charset="0"/>
                <a:ea typeface="Calibri" pitchFamily="34" charset="-122"/>
                <a:cs typeface="Calibri" pitchFamily="34" charset="-120"/>
              </a:rPr>
              <a:t>Energy &amp; Health Applications</a:t>
            </a:r>
            <a:endParaRPr lang="en-US" sz="1500" dirty="0"/>
          </a:p>
          <a:p>
            <a:pPr marL="0" indent="0" algn="l">
              <a:buNone/>
            </a:pPr>
            <a:r>
              <a:rPr lang="en-US" sz="1500" dirty="0">
                <a:solidFill>
                  <a:srgbClr val="333333"/>
                </a:solidFill>
                <a:latin typeface="Calibri" pitchFamily="34" charset="0"/>
                <a:ea typeface="Calibri" pitchFamily="34" charset="-122"/>
                <a:cs typeface="Calibri" pitchFamily="34" charset="-120"/>
              </a:rPr>
              <a:t>Compared ARIMA/SARIMA for petrol and diesel price prediction in Ghana; developed ML frameworks for childbirth-related conditions in maternal health research.</a:t>
            </a:r>
            <a:endParaRPr lang="en-US" sz="1500" dirty="0"/>
          </a:p>
        </p:txBody>
      </p:sp>
      <p:sp>
        <p:nvSpPr>
          <p:cNvPr id="8" name="Shape 6"/>
          <p:cNvSpPr/>
          <p:nvPr/>
        </p:nvSpPr>
        <p:spPr>
          <a:xfrm>
            <a:off x="4709160" y="777240"/>
            <a:ext cx="4434840" cy="4274820"/>
          </a:xfrm>
          <a:prstGeom prst="roundRect">
            <a:avLst>
              <a:gd name="adj" fmla="val 2273"/>
            </a:avLst>
          </a:prstGeom>
          <a:solidFill>
            <a:srgbClr val="FFFFFF"/>
          </a:solidFill>
          <a:ln w="6350">
            <a:solidFill>
              <a:srgbClr val="DDDDDD"/>
            </a:solidFill>
            <a:prstDash val="solid"/>
          </a:ln>
          <a:effectLst>
            <a:outerShdw blurRad="101600" dist="38100" dir="2700000" algn="bl" rotWithShape="0">
              <a:srgbClr val="000000">
                <a:alpha val="25000"/>
              </a:srgbClr>
            </a:outerShdw>
          </a:effectLst>
        </p:spPr>
      </p:sp>
      <p:sp>
        <p:nvSpPr>
          <p:cNvPr id="9" name="Text 7"/>
          <p:cNvSpPr/>
          <p:nvPr/>
        </p:nvSpPr>
        <p:spPr>
          <a:xfrm>
            <a:off x="4737538" y="768096"/>
            <a:ext cx="3840480" cy="365760"/>
          </a:xfrm>
          <a:prstGeom prst="rect">
            <a:avLst/>
          </a:prstGeom>
          <a:noFill/>
          <a:ln/>
        </p:spPr>
        <p:txBody>
          <a:bodyPr wrap="square" rtlCol="0" anchor="ctr"/>
          <a:lstStyle/>
          <a:p>
            <a:pPr marL="0" indent="0">
              <a:buNone/>
            </a:pPr>
            <a:r>
              <a:rPr lang="en-US" b="1" dirty="0">
                <a:solidFill>
                  <a:srgbClr val="0D1B2A"/>
                </a:solidFill>
                <a:latin typeface="Cambria" pitchFamily="34" charset="0"/>
                <a:ea typeface="Cambria" pitchFamily="34" charset="-122"/>
                <a:cs typeface="Cambria" pitchFamily="34" charset="-120"/>
              </a:rPr>
              <a:t>Selected Publications</a:t>
            </a:r>
            <a:endParaRPr lang="en-US" dirty="0"/>
          </a:p>
        </p:txBody>
      </p:sp>
      <p:sp>
        <p:nvSpPr>
          <p:cNvPr id="10" name="Shape 8"/>
          <p:cNvSpPr/>
          <p:nvPr/>
        </p:nvSpPr>
        <p:spPr>
          <a:xfrm>
            <a:off x="4709159" y="1083563"/>
            <a:ext cx="2661219" cy="45719"/>
          </a:xfrm>
          <a:prstGeom prst="rect">
            <a:avLst/>
          </a:prstGeom>
          <a:solidFill>
            <a:srgbClr val="C9A84C"/>
          </a:solidFill>
          <a:ln w="12700">
            <a:solidFill>
              <a:srgbClr val="C9A84C"/>
            </a:solidFill>
            <a:prstDash val="solid"/>
          </a:ln>
        </p:spPr>
      </p:sp>
      <p:sp>
        <p:nvSpPr>
          <p:cNvPr id="11" name="Text 9"/>
          <p:cNvSpPr/>
          <p:nvPr/>
        </p:nvSpPr>
        <p:spPr>
          <a:xfrm>
            <a:off x="4709159" y="1152144"/>
            <a:ext cx="4434839" cy="3899916"/>
          </a:xfrm>
          <a:prstGeom prst="rect">
            <a:avLst/>
          </a:prstGeom>
          <a:noFill/>
          <a:ln/>
        </p:spPr>
        <p:txBody>
          <a:bodyPr wrap="square" rtlCol="0" anchor="ctr"/>
          <a:lstStyle/>
          <a:p>
            <a:pPr marL="0" indent="0" algn="l">
              <a:buNone/>
            </a:pPr>
            <a:r>
              <a:rPr lang="en-US" sz="1400" b="1" dirty="0">
                <a:solidFill>
                  <a:srgbClr val="333333"/>
                </a:solidFill>
                <a:latin typeface="Calibri" pitchFamily="34" charset="0"/>
                <a:ea typeface="Calibri" pitchFamily="34" charset="-122"/>
                <a:cs typeface="Calibri" pitchFamily="34" charset="-120"/>
              </a:rPr>
              <a:t>1. </a:t>
            </a:r>
            <a:r>
              <a:rPr lang="en-US" sz="1400" dirty="0">
                <a:solidFill>
                  <a:srgbClr val="333333"/>
                </a:solidFill>
                <a:latin typeface="Calibri" pitchFamily="34" charset="0"/>
                <a:ea typeface="Calibri" pitchFamily="34" charset="-122"/>
                <a:cs typeface="Calibri" pitchFamily="34" charset="-120"/>
              </a:rPr>
              <a:t>Odoi, Abubakari, Nutakor &amp; Li (2022) 'Ghana's Inflation and Unemployment: Phillips Curve via VECM', Int. J. Social Sciences &amp; Economic Environment 7(2).
</a:t>
            </a:r>
            <a:r>
              <a:rPr lang="en-US" sz="1400" b="1" dirty="0">
                <a:solidFill>
                  <a:srgbClr val="333333"/>
                </a:solidFill>
                <a:latin typeface="Calibri" pitchFamily="34" charset="0"/>
                <a:ea typeface="Calibri" pitchFamily="34" charset="-122"/>
                <a:cs typeface="Calibri" pitchFamily="34" charset="-120"/>
              </a:rPr>
              <a:t>2. </a:t>
            </a:r>
            <a:r>
              <a:rPr lang="en-US" sz="1400" dirty="0">
                <a:solidFill>
                  <a:srgbClr val="333333"/>
                </a:solidFill>
                <a:latin typeface="Calibri" pitchFamily="34" charset="0"/>
                <a:ea typeface="Calibri" pitchFamily="34" charset="-122"/>
                <a:cs typeface="Calibri" pitchFamily="34" charset="-120"/>
              </a:rPr>
              <a:t>Odoi, Brew &amp; Attafuah (2021) 'Principal Component Regression and Time Series to Predict N₂O Emissions in Ghana', Energy Research Journal 12.
</a:t>
            </a:r>
            <a:r>
              <a:rPr lang="en-US" sz="1400" b="1" dirty="0">
                <a:solidFill>
                  <a:srgbClr val="333333"/>
                </a:solidFill>
                <a:latin typeface="Calibri" pitchFamily="34" charset="0"/>
                <a:ea typeface="Calibri" pitchFamily="34" charset="-122"/>
                <a:cs typeface="Calibri" pitchFamily="34" charset="-120"/>
              </a:rPr>
              <a:t>3. </a:t>
            </a:r>
            <a:r>
              <a:rPr lang="en-US" sz="1400" dirty="0">
                <a:solidFill>
                  <a:srgbClr val="333333"/>
                </a:solidFill>
                <a:latin typeface="Calibri" pitchFamily="34" charset="0"/>
                <a:ea typeface="Calibri" pitchFamily="34" charset="-122"/>
                <a:cs typeface="Calibri" pitchFamily="34" charset="-120"/>
              </a:rPr>
              <a:t>Ofosu, Odoi et al. (2023) 'Fault Detection of 3-Phase Induction Motor Using Kohonen Self-Organising Map', Jurnal Nasional Teknik Elektro 12(1).
</a:t>
            </a:r>
            <a:r>
              <a:rPr lang="en-US" sz="1400" b="1" dirty="0">
                <a:solidFill>
                  <a:srgbClr val="333333"/>
                </a:solidFill>
                <a:latin typeface="Calibri" pitchFamily="34" charset="0"/>
                <a:ea typeface="Calibri" pitchFamily="34" charset="-122"/>
                <a:cs typeface="Calibri" pitchFamily="34" charset="-120"/>
              </a:rPr>
              <a:t>4. </a:t>
            </a:r>
            <a:r>
              <a:rPr lang="en-US" sz="1400" dirty="0">
                <a:solidFill>
                  <a:srgbClr val="333333"/>
                </a:solidFill>
                <a:latin typeface="Calibri" pitchFamily="34" charset="0"/>
                <a:ea typeface="Calibri" pitchFamily="34" charset="-122"/>
                <a:cs typeface="Calibri" pitchFamily="34" charset="-120"/>
              </a:rPr>
              <a:t>Ocloo, Brew, Nasiru &amp; Odoi (2022) 'Harmonic Mixture Frechet Distribution', Hindawi.
</a:t>
            </a:r>
            <a:r>
              <a:rPr lang="en-US" sz="1400" b="1" dirty="0">
                <a:solidFill>
                  <a:srgbClr val="333333"/>
                </a:solidFill>
                <a:latin typeface="Calibri" pitchFamily="34" charset="0"/>
                <a:ea typeface="Calibri" pitchFamily="34" charset="-122"/>
                <a:cs typeface="Calibri" pitchFamily="34" charset="-120"/>
              </a:rPr>
              <a:t>5. </a:t>
            </a:r>
            <a:r>
              <a:rPr lang="en-US" sz="1400" dirty="0">
                <a:solidFill>
                  <a:srgbClr val="333333"/>
                </a:solidFill>
                <a:latin typeface="Calibri" pitchFamily="34" charset="0"/>
                <a:ea typeface="Calibri" pitchFamily="34" charset="-122"/>
                <a:cs typeface="Calibri" pitchFamily="34" charset="-120"/>
              </a:rPr>
              <a:t>Odoi et al. (2024) 'Predicting Petrol and Diesel Prices in Ghana: ARIMA vs SARIMA', Int. J. Innovative Technology &amp; Exploring Engineering.</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3200400" y="-1371600"/>
            <a:ext cx="3200400" cy="3200400"/>
          </a:xfrm>
          <a:prstGeom prst="ellipse">
            <a:avLst/>
          </a:prstGeom>
          <a:solidFill>
            <a:srgbClr val="1B3A5C">
              <a:alpha val="40000"/>
            </a:srgbClr>
          </a:solidFill>
          <a:ln w="12700">
            <a:solidFill>
              <a:srgbClr val="C9A84C"/>
            </a:solidFill>
            <a:prstDash val="solid"/>
          </a:ln>
        </p:spPr>
      </p:sp>
      <p:sp>
        <p:nvSpPr>
          <p:cNvPr id="3" name="Text 1"/>
          <p:cNvSpPr/>
          <p:nvPr/>
        </p:nvSpPr>
        <p:spPr>
          <a:xfrm>
            <a:off x="914400" y="731520"/>
            <a:ext cx="7315200" cy="100584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Shape 2"/>
          <p:cNvSpPr/>
          <p:nvPr/>
        </p:nvSpPr>
        <p:spPr>
          <a:xfrm>
            <a:off x="3200400" y="1737360"/>
            <a:ext cx="2743200" cy="54864"/>
          </a:xfrm>
          <a:prstGeom prst="rect">
            <a:avLst/>
          </a:prstGeom>
          <a:solidFill>
            <a:srgbClr val="C9A84C"/>
          </a:solidFill>
          <a:ln w="12700">
            <a:solidFill>
              <a:srgbClr val="C9A84C"/>
            </a:solidFill>
            <a:prstDash val="solid"/>
          </a:ln>
        </p:spPr>
      </p:sp>
      <p:sp>
        <p:nvSpPr>
          <p:cNvPr id="5" name="Shape 3"/>
          <p:cNvSpPr/>
          <p:nvPr/>
        </p:nvSpPr>
        <p:spPr>
          <a:xfrm>
            <a:off x="457200" y="2011680"/>
            <a:ext cx="4206240" cy="438912"/>
          </a:xfrm>
          <a:prstGeom prst="roundRect">
            <a:avLst>
              <a:gd name="adj" fmla="val 12500"/>
            </a:avLst>
          </a:prstGeom>
          <a:solidFill>
            <a:srgbClr val="162130"/>
          </a:solidFill>
          <a:ln w="5080">
            <a:solidFill>
              <a:srgbClr val="8FA4BA"/>
            </a:solidFill>
            <a:prstDash val="solid"/>
          </a:ln>
        </p:spPr>
      </p:sp>
      <p:sp>
        <p:nvSpPr>
          <p:cNvPr id="6" name="Text 4"/>
          <p:cNvSpPr/>
          <p:nvPr/>
        </p:nvSpPr>
        <p:spPr>
          <a:xfrm>
            <a:off x="640080" y="2011680"/>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1. Jerome H. Friedman</a:t>
            </a:r>
            <a:endParaRPr lang="en-US" sz="1200" dirty="0"/>
          </a:p>
        </p:txBody>
      </p:sp>
      <p:sp>
        <p:nvSpPr>
          <p:cNvPr id="7" name="Shape 5"/>
          <p:cNvSpPr/>
          <p:nvPr/>
        </p:nvSpPr>
        <p:spPr>
          <a:xfrm>
            <a:off x="457200" y="2532888"/>
            <a:ext cx="4206240" cy="438912"/>
          </a:xfrm>
          <a:prstGeom prst="roundRect">
            <a:avLst>
              <a:gd name="adj" fmla="val 12500"/>
            </a:avLst>
          </a:prstGeom>
          <a:solidFill>
            <a:srgbClr val="162130"/>
          </a:solidFill>
          <a:ln w="5080">
            <a:solidFill>
              <a:srgbClr val="8FA4BA"/>
            </a:solidFill>
            <a:prstDash val="solid"/>
          </a:ln>
        </p:spPr>
      </p:sp>
      <p:sp>
        <p:nvSpPr>
          <p:cNvPr id="8" name="Text 6"/>
          <p:cNvSpPr/>
          <p:nvPr/>
        </p:nvSpPr>
        <p:spPr>
          <a:xfrm>
            <a:off x="640080" y="2532888"/>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2. Trevor Hastie</a:t>
            </a:r>
            <a:endParaRPr lang="en-US" sz="1200" dirty="0"/>
          </a:p>
        </p:txBody>
      </p:sp>
      <p:sp>
        <p:nvSpPr>
          <p:cNvPr id="9" name="Shape 7"/>
          <p:cNvSpPr/>
          <p:nvPr/>
        </p:nvSpPr>
        <p:spPr>
          <a:xfrm>
            <a:off x="457200" y="3054096"/>
            <a:ext cx="4206240" cy="438912"/>
          </a:xfrm>
          <a:prstGeom prst="roundRect">
            <a:avLst>
              <a:gd name="adj" fmla="val 12500"/>
            </a:avLst>
          </a:prstGeom>
          <a:solidFill>
            <a:srgbClr val="162130"/>
          </a:solidFill>
          <a:ln w="5080">
            <a:solidFill>
              <a:srgbClr val="8FA4BA"/>
            </a:solidFill>
            <a:prstDash val="solid"/>
          </a:ln>
        </p:spPr>
      </p:sp>
      <p:sp>
        <p:nvSpPr>
          <p:cNvPr id="10" name="Text 8"/>
          <p:cNvSpPr/>
          <p:nvPr/>
        </p:nvSpPr>
        <p:spPr>
          <a:xfrm>
            <a:off x="640080" y="3054096"/>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3. Robert Tibshirani</a:t>
            </a:r>
            <a:endParaRPr lang="en-US" sz="1200" dirty="0"/>
          </a:p>
        </p:txBody>
      </p:sp>
      <p:sp>
        <p:nvSpPr>
          <p:cNvPr id="11" name="Shape 9"/>
          <p:cNvSpPr/>
          <p:nvPr/>
        </p:nvSpPr>
        <p:spPr>
          <a:xfrm>
            <a:off x="457200" y="3575304"/>
            <a:ext cx="4206240" cy="438912"/>
          </a:xfrm>
          <a:prstGeom prst="roundRect">
            <a:avLst>
              <a:gd name="adj" fmla="val 12500"/>
            </a:avLst>
          </a:prstGeom>
          <a:solidFill>
            <a:srgbClr val="162130"/>
          </a:solidFill>
          <a:ln w="5080">
            <a:solidFill>
              <a:srgbClr val="8FA4BA"/>
            </a:solidFill>
            <a:prstDash val="solid"/>
          </a:ln>
        </p:spPr>
      </p:sp>
      <p:sp>
        <p:nvSpPr>
          <p:cNvPr id="12" name="Text 10"/>
          <p:cNvSpPr/>
          <p:nvPr/>
        </p:nvSpPr>
        <p:spPr>
          <a:xfrm>
            <a:off x="640080" y="3575304"/>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4. David Donoho</a:t>
            </a:r>
            <a:endParaRPr lang="en-US" sz="1200" dirty="0"/>
          </a:p>
        </p:txBody>
      </p:sp>
      <p:sp>
        <p:nvSpPr>
          <p:cNvPr id="13" name="Shape 11"/>
          <p:cNvSpPr/>
          <p:nvPr/>
        </p:nvSpPr>
        <p:spPr>
          <a:xfrm>
            <a:off x="457200" y="4096512"/>
            <a:ext cx="4206240" cy="438912"/>
          </a:xfrm>
          <a:prstGeom prst="roundRect">
            <a:avLst>
              <a:gd name="adj" fmla="val 12500"/>
            </a:avLst>
          </a:prstGeom>
          <a:solidFill>
            <a:srgbClr val="162130"/>
          </a:solidFill>
          <a:ln w="5080">
            <a:solidFill>
              <a:srgbClr val="8FA4BA"/>
            </a:solidFill>
            <a:prstDash val="solid"/>
          </a:ln>
        </p:spPr>
      </p:sp>
      <p:sp>
        <p:nvSpPr>
          <p:cNvPr id="14" name="Text 12"/>
          <p:cNvSpPr/>
          <p:nvPr/>
        </p:nvSpPr>
        <p:spPr>
          <a:xfrm>
            <a:off x="640080" y="4096512"/>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5. Andrew Gelman</a:t>
            </a:r>
            <a:endParaRPr lang="en-US" sz="1200" dirty="0"/>
          </a:p>
        </p:txBody>
      </p:sp>
      <p:sp>
        <p:nvSpPr>
          <p:cNvPr id="15" name="Shape 13"/>
          <p:cNvSpPr/>
          <p:nvPr/>
        </p:nvSpPr>
        <p:spPr>
          <a:xfrm>
            <a:off x="5029200" y="2011680"/>
            <a:ext cx="4114800" cy="438912"/>
          </a:xfrm>
          <a:prstGeom prst="roundRect">
            <a:avLst>
              <a:gd name="adj" fmla="val 12500"/>
            </a:avLst>
          </a:prstGeom>
          <a:solidFill>
            <a:srgbClr val="162130"/>
          </a:solidFill>
          <a:ln w="5080">
            <a:solidFill>
              <a:srgbClr val="8FA4BA"/>
            </a:solidFill>
            <a:prstDash val="solid"/>
          </a:ln>
        </p:spPr>
      </p:sp>
      <p:sp>
        <p:nvSpPr>
          <p:cNvPr id="16" name="Text 14"/>
          <p:cNvSpPr/>
          <p:nvPr/>
        </p:nvSpPr>
        <p:spPr>
          <a:xfrm>
            <a:off x="5212080" y="2011680"/>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6. Samuel K. Annim</a:t>
            </a:r>
            <a:endParaRPr lang="en-US" sz="1200" dirty="0"/>
          </a:p>
        </p:txBody>
      </p:sp>
      <p:sp>
        <p:nvSpPr>
          <p:cNvPr id="17" name="Shape 15"/>
          <p:cNvSpPr/>
          <p:nvPr/>
        </p:nvSpPr>
        <p:spPr>
          <a:xfrm>
            <a:off x="5029200" y="2532888"/>
            <a:ext cx="4114800" cy="438912"/>
          </a:xfrm>
          <a:prstGeom prst="roundRect">
            <a:avLst>
              <a:gd name="adj" fmla="val 12500"/>
            </a:avLst>
          </a:prstGeom>
          <a:solidFill>
            <a:srgbClr val="162130"/>
          </a:solidFill>
          <a:ln w="5080">
            <a:solidFill>
              <a:srgbClr val="8FA4BA"/>
            </a:solidFill>
            <a:prstDash val="solid"/>
          </a:ln>
        </p:spPr>
      </p:sp>
      <p:sp>
        <p:nvSpPr>
          <p:cNvPr id="18" name="Text 16"/>
          <p:cNvSpPr/>
          <p:nvPr/>
        </p:nvSpPr>
        <p:spPr>
          <a:xfrm>
            <a:off x="5212080" y="2532888"/>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7. Suleman Nasiru</a:t>
            </a:r>
            <a:endParaRPr lang="en-US" sz="1200" dirty="0"/>
          </a:p>
        </p:txBody>
      </p:sp>
      <p:sp>
        <p:nvSpPr>
          <p:cNvPr id="19" name="Shape 17"/>
          <p:cNvSpPr/>
          <p:nvPr/>
        </p:nvSpPr>
        <p:spPr>
          <a:xfrm>
            <a:off x="5029200" y="3054096"/>
            <a:ext cx="4114800" cy="438912"/>
          </a:xfrm>
          <a:prstGeom prst="roundRect">
            <a:avLst>
              <a:gd name="adj" fmla="val 12500"/>
            </a:avLst>
          </a:prstGeom>
          <a:solidFill>
            <a:srgbClr val="162130"/>
          </a:solidFill>
          <a:ln w="5080">
            <a:solidFill>
              <a:srgbClr val="8FA4BA"/>
            </a:solidFill>
            <a:prstDash val="solid"/>
          </a:ln>
        </p:spPr>
      </p:sp>
      <p:sp>
        <p:nvSpPr>
          <p:cNvPr id="20" name="Text 18"/>
          <p:cNvSpPr/>
          <p:nvPr/>
        </p:nvSpPr>
        <p:spPr>
          <a:xfrm>
            <a:off x="5212080" y="3054096"/>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8. Lewis Brew</a:t>
            </a:r>
            <a:endParaRPr lang="en-US" sz="1200" dirty="0"/>
          </a:p>
        </p:txBody>
      </p:sp>
      <p:sp>
        <p:nvSpPr>
          <p:cNvPr id="21" name="Shape 19"/>
          <p:cNvSpPr/>
          <p:nvPr/>
        </p:nvSpPr>
        <p:spPr>
          <a:xfrm>
            <a:off x="5029200" y="3575304"/>
            <a:ext cx="4114800" cy="438912"/>
          </a:xfrm>
          <a:prstGeom prst="roundRect">
            <a:avLst>
              <a:gd name="adj" fmla="val 12500"/>
            </a:avLst>
          </a:prstGeom>
          <a:solidFill>
            <a:srgbClr val="162130"/>
          </a:solidFill>
          <a:ln w="5080">
            <a:solidFill>
              <a:srgbClr val="8FA4BA"/>
            </a:solidFill>
            <a:prstDash val="solid"/>
          </a:ln>
        </p:spPr>
      </p:sp>
      <p:sp>
        <p:nvSpPr>
          <p:cNvPr id="22" name="Text 20"/>
          <p:cNvSpPr/>
          <p:nvPr/>
        </p:nvSpPr>
        <p:spPr>
          <a:xfrm>
            <a:off x="5212080" y="3575304"/>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9. Eric Nyarko</a:t>
            </a:r>
            <a:endParaRPr lang="en-US" sz="1200" dirty="0"/>
          </a:p>
        </p:txBody>
      </p:sp>
      <p:sp>
        <p:nvSpPr>
          <p:cNvPr id="23" name="Shape 21"/>
          <p:cNvSpPr/>
          <p:nvPr/>
        </p:nvSpPr>
        <p:spPr>
          <a:xfrm>
            <a:off x="5029200" y="4096512"/>
            <a:ext cx="4114800" cy="438912"/>
          </a:xfrm>
          <a:prstGeom prst="roundRect">
            <a:avLst>
              <a:gd name="adj" fmla="val 12500"/>
            </a:avLst>
          </a:prstGeom>
          <a:solidFill>
            <a:srgbClr val="162130"/>
          </a:solidFill>
          <a:ln w="5080">
            <a:solidFill>
              <a:srgbClr val="8FA4BA"/>
            </a:solidFill>
            <a:prstDash val="solid"/>
          </a:ln>
        </p:spPr>
      </p:sp>
      <p:sp>
        <p:nvSpPr>
          <p:cNvPr id="24" name="Text 22"/>
          <p:cNvSpPr/>
          <p:nvPr/>
        </p:nvSpPr>
        <p:spPr>
          <a:xfrm>
            <a:off x="5212080" y="4096512"/>
            <a:ext cx="3840480" cy="438912"/>
          </a:xfrm>
          <a:prstGeom prst="rect">
            <a:avLst/>
          </a:prstGeom>
          <a:noFill/>
          <a:ln/>
        </p:spPr>
        <p:txBody>
          <a:bodyPr wrap="square" rtlCol="0" anchor="ctr"/>
          <a:lstStyle/>
          <a:p>
            <a:pPr marL="0" indent="0">
              <a:buNone/>
            </a:pPr>
            <a:r>
              <a:rPr lang="en-US" sz="1200" dirty="0">
                <a:solidFill>
                  <a:srgbClr val="E8C97A"/>
                </a:solidFill>
                <a:latin typeface="Calibri" pitchFamily="34" charset="0"/>
                <a:ea typeface="Calibri" pitchFamily="34" charset="-122"/>
                <a:cs typeface="Calibri" pitchFamily="34" charset="-120"/>
              </a:rPr>
              <a:t>10. Benjamin Odoi</a:t>
            </a:r>
            <a:endParaRPr lang="en-US" sz="1200" dirty="0"/>
          </a:p>
        </p:txBody>
      </p:sp>
      <p:sp>
        <p:nvSpPr>
          <p:cNvPr id="25" name="Text 23"/>
          <p:cNvSpPr/>
          <p:nvPr/>
        </p:nvSpPr>
        <p:spPr>
          <a:xfrm>
            <a:off x="457200" y="4800600"/>
            <a:ext cx="8229600" cy="256032"/>
          </a:xfrm>
          <a:prstGeom prst="rect">
            <a:avLst/>
          </a:prstGeom>
          <a:noFill/>
          <a:ln/>
        </p:spPr>
        <p:txBody>
          <a:bodyPr wrap="square" rtlCol="0" anchor="ctr"/>
          <a:lstStyle/>
          <a:p>
            <a:pPr marL="0" indent="0" algn="ctr">
              <a:buNone/>
            </a:pPr>
            <a:r>
              <a:rPr lang="en-US" sz="950" dirty="0">
                <a:solidFill>
                  <a:srgbClr val="8FA4BA"/>
                </a:solidFill>
                <a:latin typeface="Calibri" pitchFamily="34" charset="0"/>
                <a:ea typeface="Calibri" pitchFamily="34" charset="-122"/>
                <a:cs typeface="Calibri" pitchFamily="34" charset="-120"/>
              </a:rPr>
              <a:t>BSc. Statistical Data Science · University of Mines and Technology · June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3254</Words>
  <Application>Microsoft Office PowerPoint</Application>
  <PresentationFormat>On-screen Show (16:9)</PresentationFormat>
  <Paragraphs>234</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Scholars in Statistical Data Science</dc:title>
  <dc:subject>PptxGenJS Presentation</dc:subject>
  <dc:creator>PptxGenJS</dc:creator>
  <cp:lastModifiedBy>Stephen Addey Jnr.</cp:lastModifiedBy>
  <cp:revision>3</cp:revision>
  <dcterms:created xsi:type="dcterms:W3CDTF">2026-06-14T15:19:05Z</dcterms:created>
  <dcterms:modified xsi:type="dcterms:W3CDTF">2026-06-14T21:49:48Z</dcterms:modified>
</cp:coreProperties>
</file>